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67" r:id="rId2"/>
  </p:sldIdLst>
  <p:sldSz cx="20880388" cy="7920038"/>
  <p:notesSz cx="6858000" cy="9144000"/>
  <p:defaultTextStyle>
    <a:defPPr>
      <a:defRPr lang="ko-KR"/>
    </a:defPPr>
    <a:lvl1pPr marL="0" algn="l" defTabSz="1381805" rtl="0" eaLnBrk="1" latinLnBrk="1" hangingPunct="1">
      <a:defRPr sz="2721" kern="1200">
        <a:solidFill>
          <a:schemeClr val="tx1"/>
        </a:solidFill>
        <a:latin typeface="+mn-lt"/>
        <a:ea typeface="+mn-ea"/>
        <a:cs typeface="+mn-cs"/>
      </a:defRPr>
    </a:lvl1pPr>
    <a:lvl2pPr marL="690903" algn="l" defTabSz="1381805" rtl="0" eaLnBrk="1" latinLnBrk="1" hangingPunct="1">
      <a:defRPr sz="2721" kern="1200">
        <a:solidFill>
          <a:schemeClr val="tx1"/>
        </a:solidFill>
        <a:latin typeface="+mn-lt"/>
        <a:ea typeface="+mn-ea"/>
        <a:cs typeface="+mn-cs"/>
      </a:defRPr>
    </a:lvl2pPr>
    <a:lvl3pPr marL="1381805" algn="l" defTabSz="1381805" rtl="0" eaLnBrk="1" latinLnBrk="1" hangingPunct="1">
      <a:defRPr sz="2721" kern="1200">
        <a:solidFill>
          <a:schemeClr val="tx1"/>
        </a:solidFill>
        <a:latin typeface="+mn-lt"/>
        <a:ea typeface="+mn-ea"/>
        <a:cs typeface="+mn-cs"/>
      </a:defRPr>
    </a:lvl3pPr>
    <a:lvl4pPr marL="2072710" algn="l" defTabSz="1381805" rtl="0" eaLnBrk="1" latinLnBrk="1" hangingPunct="1">
      <a:defRPr sz="2721" kern="1200">
        <a:solidFill>
          <a:schemeClr val="tx1"/>
        </a:solidFill>
        <a:latin typeface="+mn-lt"/>
        <a:ea typeface="+mn-ea"/>
        <a:cs typeface="+mn-cs"/>
      </a:defRPr>
    </a:lvl4pPr>
    <a:lvl5pPr marL="2763615" algn="l" defTabSz="1381805" rtl="0" eaLnBrk="1" latinLnBrk="1" hangingPunct="1">
      <a:defRPr sz="2721" kern="1200">
        <a:solidFill>
          <a:schemeClr val="tx1"/>
        </a:solidFill>
        <a:latin typeface="+mn-lt"/>
        <a:ea typeface="+mn-ea"/>
        <a:cs typeface="+mn-cs"/>
      </a:defRPr>
    </a:lvl5pPr>
    <a:lvl6pPr marL="3454516" algn="l" defTabSz="1381805" rtl="0" eaLnBrk="1" latinLnBrk="1" hangingPunct="1">
      <a:defRPr sz="2721" kern="1200">
        <a:solidFill>
          <a:schemeClr val="tx1"/>
        </a:solidFill>
        <a:latin typeface="+mn-lt"/>
        <a:ea typeface="+mn-ea"/>
        <a:cs typeface="+mn-cs"/>
      </a:defRPr>
    </a:lvl6pPr>
    <a:lvl7pPr marL="4145420" algn="l" defTabSz="1381805" rtl="0" eaLnBrk="1" latinLnBrk="1" hangingPunct="1">
      <a:defRPr sz="2721" kern="1200">
        <a:solidFill>
          <a:schemeClr val="tx1"/>
        </a:solidFill>
        <a:latin typeface="+mn-lt"/>
        <a:ea typeface="+mn-ea"/>
        <a:cs typeface="+mn-cs"/>
      </a:defRPr>
    </a:lvl7pPr>
    <a:lvl8pPr marL="4836323" algn="l" defTabSz="1381805" rtl="0" eaLnBrk="1" latinLnBrk="1" hangingPunct="1">
      <a:defRPr sz="2721" kern="1200">
        <a:solidFill>
          <a:schemeClr val="tx1"/>
        </a:solidFill>
        <a:latin typeface="+mn-lt"/>
        <a:ea typeface="+mn-ea"/>
        <a:cs typeface="+mn-cs"/>
      </a:defRPr>
    </a:lvl8pPr>
    <a:lvl9pPr marL="5527226" algn="l" defTabSz="1381805" rtl="0" eaLnBrk="1" latinLnBrk="1" hangingPunct="1">
      <a:defRPr sz="272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99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3" d="100"/>
          <a:sy n="93" d="100"/>
        </p:scale>
        <p:origin x="132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0049" y="1296173"/>
            <a:ext cx="15660291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0049" y="4159854"/>
            <a:ext cx="15660291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45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525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651" y="1974511"/>
            <a:ext cx="18009335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4651" y="5300193"/>
            <a:ext cx="18009335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>
                    <a:tint val="75000"/>
                  </a:schemeClr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89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527" y="2108344"/>
            <a:ext cx="8874165" cy="502519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696" y="2108344"/>
            <a:ext cx="8874165" cy="502519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76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246" y="421669"/>
            <a:ext cx="18009335" cy="153084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8247" y="1941510"/>
            <a:ext cx="8833382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38247" y="2893014"/>
            <a:ext cx="8833382" cy="42551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570696" y="1941510"/>
            <a:ext cx="8876885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570696" y="2893014"/>
            <a:ext cx="8876885" cy="42551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98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616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95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247" y="528002"/>
            <a:ext cx="6734468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76885" y="1140340"/>
            <a:ext cx="10570696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8247" y="2376011"/>
            <a:ext cx="6734468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48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247" y="528002"/>
            <a:ext cx="6734468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76885" y="1140340"/>
            <a:ext cx="10570696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8247" y="2376011"/>
            <a:ext cx="6734468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0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373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942527" y="421669"/>
            <a:ext cx="4502334" cy="671186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35527" y="421669"/>
            <a:ext cx="13245996" cy="671186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78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35527" y="421669"/>
            <a:ext cx="18009335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5527" y="2108344"/>
            <a:ext cx="18009335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35527" y="7340702"/>
            <a:ext cx="4698087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8EAC2-AED3-42C7-904B-9E8C7BC063AD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16629" y="7340702"/>
            <a:ext cx="7047131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746774" y="7340702"/>
            <a:ext cx="4698087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32F2C-E3EB-4C0B-B4A2-AF20D20F8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379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056041" rtl="0" eaLnBrk="1" latinLnBrk="1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1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자유형 150"/>
          <p:cNvSpPr/>
          <p:nvPr/>
        </p:nvSpPr>
        <p:spPr>
          <a:xfrm>
            <a:off x="9416583" y="2213237"/>
            <a:ext cx="1944805" cy="3037221"/>
          </a:xfrm>
          <a:custGeom>
            <a:avLst/>
            <a:gdLst>
              <a:gd name="connsiteX0" fmla="*/ 1848578 w 1944804"/>
              <a:gd name="connsiteY0" fmla="*/ 0 h 3037221"/>
              <a:gd name="connsiteX1" fmla="*/ 1944804 w 1944804"/>
              <a:gd name="connsiteY1" fmla="*/ 0 h 3037221"/>
              <a:gd name="connsiteX2" fmla="*/ 1944804 w 1944804"/>
              <a:gd name="connsiteY2" fmla="*/ 439983 h 3037221"/>
              <a:gd name="connsiteX3" fmla="*/ 1931101 w 1944804"/>
              <a:gd name="connsiteY3" fmla="*/ 439983 h 3037221"/>
              <a:gd name="connsiteX4" fmla="*/ 1848578 w 1944804"/>
              <a:gd name="connsiteY4" fmla="*/ 439983 h 3037221"/>
              <a:gd name="connsiteX5" fmla="*/ 178988 w 1944804"/>
              <a:gd name="connsiteY5" fmla="*/ 439983 h 3037221"/>
              <a:gd name="connsiteX6" fmla="*/ 178988 w 1944804"/>
              <a:gd name="connsiteY6" fmla="*/ 2917896 h 3037221"/>
              <a:gd name="connsiteX7" fmla="*/ 238651 w 1944804"/>
              <a:gd name="connsiteY7" fmla="*/ 2917896 h 3037221"/>
              <a:gd name="connsiteX8" fmla="*/ 119326 w 1944804"/>
              <a:gd name="connsiteY8" fmla="*/ 3037221 h 3037221"/>
              <a:gd name="connsiteX9" fmla="*/ 0 w 1944804"/>
              <a:gd name="connsiteY9" fmla="*/ 2917896 h 3037221"/>
              <a:gd name="connsiteX10" fmla="*/ 59663 w 1944804"/>
              <a:gd name="connsiteY10" fmla="*/ 2917896 h 3037221"/>
              <a:gd name="connsiteX11" fmla="*/ 59663 w 1944804"/>
              <a:gd name="connsiteY11" fmla="*/ 439983 h 3037221"/>
              <a:gd name="connsiteX12" fmla="*/ 58412 w 1944804"/>
              <a:gd name="connsiteY12" fmla="*/ 439983 h 3037221"/>
              <a:gd name="connsiteX13" fmla="*/ 58412 w 1944804"/>
              <a:gd name="connsiteY13" fmla="*/ 356328 h 3037221"/>
              <a:gd name="connsiteX14" fmla="*/ 1848578 w 1944804"/>
              <a:gd name="connsiteY14" fmla="*/ 356328 h 3037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44804" h="3037221">
                <a:moveTo>
                  <a:pt x="1848578" y="0"/>
                </a:moveTo>
                <a:lnTo>
                  <a:pt x="1944804" y="0"/>
                </a:lnTo>
                <a:lnTo>
                  <a:pt x="1944804" y="439983"/>
                </a:lnTo>
                <a:lnTo>
                  <a:pt x="1931101" y="439983"/>
                </a:lnTo>
                <a:lnTo>
                  <a:pt x="1848578" y="439983"/>
                </a:lnTo>
                <a:lnTo>
                  <a:pt x="178988" y="439983"/>
                </a:lnTo>
                <a:lnTo>
                  <a:pt x="178988" y="2917896"/>
                </a:lnTo>
                <a:lnTo>
                  <a:pt x="238651" y="2917896"/>
                </a:lnTo>
                <a:lnTo>
                  <a:pt x="119326" y="3037221"/>
                </a:lnTo>
                <a:lnTo>
                  <a:pt x="0" y="2917896"/>
                </a:lnTo>
                <a:lnTo>
                  <a:pt x="59663" y="2917896"/>
                </a:lnTo>
                <a:lnTo>
                  <a:pt x="59663" y="439983"/>
                </a:lnTo>
                <a:lnTo>
                  <a:pt x="58412" y="439983"/>
                </a:lnTo>
                <a:lnTo>
                  <a:pt x="58412" y="356328"/>
                </a:lnTo>
                <a:lnTo>
                  <a:pt x="1848578" y="356328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152" name="TextBox 151"/>
          <p:cNvSpPr txBox="1"/>
          <p:nvPr/>
        </p:nvSpPr>
        <p:spPr>
          <a:xfrm>
            <a:off x="11389960" y="2213237"/>
            <a:ext cx="1242648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</a:t>
            </a:r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Valid Indicator</a:t>
            </a:r>
            <a:endParaRPr lang="en-US" altLang="ko-KR" sz="619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48" name="자유형 147"/>
          <p:cNvSpPr/>
          <p:nvPr/>
        </p:nvSpPr>
        <p:spPr>
          <a:xfrm>
            <a:off x="6938121" y="2214445"/>
            <a:ext cx="2269810" cy="3047033"/>
          </a:xfrm>
          <a:custGeom>
            <a:avLst/>
            <a:gdLst>
              <a:gd name="connsiteX0" fmla="*/ 2167616 w 2269810"/>
              <a:gd name="connsiteY0" fmla="*/ 0 h 3047033"/>
              <a:gd name="connsiteX1" fmla="*/ 2269809 w 2269810"/>
              <a:gd name="connsiteY1" fmla="*/ 0 h 3047033"/>
              <a:gd name="connsiteX2" fmla="*/ 2269809 w 2269810"/>
              <a:gd name="connsiteY2" fmla="*/ 2577248 h 3047033"/>
              <a:gd name="connsiteX3" fmla="*/ 2269810 w 2269810"/>
              <a:gd name="connsiteY3" fmla="*/ 2577248 h 3047033"/>
              <a:gd name="connsiteX4" fmla="*/ 2269810 w 2269810"/>
              <a:gd name="connsiteY4" fmla="*/ 2669846 h 3047033"/>
              <a:gd name="connsiteX5" fmla="*/ 204455 w 2269810"/>
              <a:gd name="connsiteY5" fmla="*/ 2669846 h 3047033"/>
              <a:gd name="connsiteX6" fmla="*/ 204455 w 2269810"/>
              <a:gd name="connsiteY6" fmla="*/ 2910730 h 3047033"/>
              <a:gd name="connsiteX7" fmla="*/ 272606 w 2269810"/>
              <a:gd name="connsiteY7" fmla="*/ 2910730 h 3047033"/>
              <a:gd name="connsiteX8" fmla="*/ 136303 w 2269810"/>
              <a:gd name="connsiteY8" fmla="*/ 3047033 h 3047033"/>
              <a:gd name="connsiteX9" fmla="*/ 0 w 2269810"/>
              <a:gd name="connsiteY9" fmla="*/ 2910730 h 3047033"/>
              <a:gd name="connsiteX10" fmla="*/ 68152 w 2269810"/>
              <a:gd name="connsiteY10" fmla="*/ 2910730 h 3047033"/>
              <a:gd name="connsiteX11" fmla="*/ 68152 w 2269810"/>
              <a:gd name="connsiteY11" fmla="*/ 2669846 h 3047033"/>
              <a:gd name="connsiteX12" fmla="*/ 64341 w 2269810"/>
              <a:gd name="connsiteY12" fmla="*/ 2669846 h 3047033"/>
              <a:gd name="connsiteX13" fmla="*/ 64341 w 2269810"/>
              <a:gd name="connsiteY13" fmla="*/ 2577248 h 3047033"/>
              <a:gd name="connsiteX14" fmla="*/ 68152 w 2269810"/>
              <a:gd name="connsiteY14" fmla="*/ 2577248 h 3047033"/>
              <a:gd name="connsiteX15" fmla="*/ 204455 w 2269810"/>
              <a:gd name="connsiteY15" fmla="*/ 2577248 h 3047033"/>
              <a:gd name="connsiteX16" fmla="*/ 2167616 w 2269810"/>
              <a:gd name="connsiteY16" fmla="*/ 2577248 h 3047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69810" h="3047033">
                <a:moveTo>
                  <a:pt x="2167616" y="0"/>
                </a:moveTo>
                <a:lnTo>
                  <a:pt x="2269809" y="0"/>
                </a:lnTo>
                <a:lnTo>
                  <a:pt x="2269809" y="2577248"/>
                </a:lnTo>
                <a:lnTo>
                  <a:pt x="2269810" y="2577248"/>
                </a:lnTo>
                <a:lnTo>
                  <a:pt x="2269810" y="2669846"/>
                </a:lnTo>
                <a:lnTo>
                  <a:pt x="204455" y="2669846"/>
                </a:lnTo>
                <a:lnTo>
                  <a:pt x="204455" y="2910730"/>
                </a:lnTo>
                <a:lnTo>
                  <a:pt x="272606" y="2910730"/>
                </a:lnTo>
                <a:lnTo>
                  <a:pt x="136303" y="3047033"/>
                </a:lnTo>
                <a:lnTo>
                  <a:pt x="0" y="2910730"/>
                </a:lnTo>
                <a:lnTo>
                  <a:pt x="68152" y="2910730"/>
                </a:lnTo>
                <a:lnTo>
                  <a:pt x="68152" y="2669846"/>
                </a:lnTo>
                <a:lnTo>
                  <a:pt x="64341" y="2669846"/>
                </a:lnTo>
                <a:lnTo>
                  <a:pt x="64341" y="2577248"/>
                </a:lnTo>
                <a:lnTo>
                  <a:pt x="68152" y="2577248"/>
                </a:lnTo>
                <a:lnTo>
                  <a:pt x="204455" y="2577248"/>
                </a:lnTo>
                <a:lnTo>
                  <a:pt x="2167616" y="2577248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81" name="직사각형 80"/>
          <p:cNvSpPr/>
          <p:nvPr/>
        </p:nvSpPr>
        <p:spPr>
          <a:xfrm>
            <a:off x="13313356" y="629536"/>
            <a:ext cx="3734503" cy="157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12523634" y="2720"/>
            <a:ext cx="8353579" cy="7376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7963472" y="1240889"/>
            <a:ext cx="9537201" cy="872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5" tIns="19290" rIns="38575" bIns="19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NEW ENTRY LOGIC</a:t>
            </a:r>
          </a:p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(NEL)</a:t>
            </a:r>
            <a:endParaRPr lang="ko-KR" altLang="en-US" sz="760" b="1" dirty="0">
              <a:solidFill>
                <a:schemeClr val="tx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" name="오른쪽 대괄호 2"/>
          <p:cNvSpPr/>
          <p:nvPr/>
        </p:nvSpPr>
        <p:spPr>
          <a:xfrm rot="5400000">
            <a:off x="15129778" y="-1132468"/>
            <a:ext cx="98756" cy="3737403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3586403" y="1202002"/>
          <a:ext cx="2493618" cy="237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624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706319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611459">
                  <a:extLst>
                    <a:ext uri="{9D8B030D-6E8A-4147-A177-3AD203B41FA5}">
                      <a16:colId xmlns:a16="http://schemas.microsoft.com/office/drawing/2014/main" val="987413554"/>
                    </a:ext>
                  </a:extLst>
                </a:gridCol>
                <a:gridCol w="600216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</a:tblGrid>
              <a:tr h="11858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Instruction </a:t>
                      </a:r>
                      <a:r>
                        <a:rPr lang="en-US" altLang="ko-KR" sz="50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(Compatible Fixed-Size Instruction set)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749951"/>
                  </a:ext>
                </a:extLst>
              </a:tr>
              <a:tr h="118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Operation</a:t>
                      </a:r>
                      <a:r>
                        <a:rPr lang="en-US" altLang="ko-KR" sz="50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C</a:t>
                      </a:r>
                      <a:r>
                        <a:rPr lang="en-US" altLang="ko-KR" sz="50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ode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Register</a:t>
                      </a:r>
                      <a:r>
                        <a:rPr lang="en-US" altLang="ko-KR" sz="50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Destination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Register Sources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Immediate</a:t>
                      </a:r>
                      <a:r>
                        <a:rPr lang="en-US" altLang="ko-KR" sz="50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Value</a:t>
                      </a:r>
                      <a:endParaRPr lang="ko-KR" altLang="en-US" sz="5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080033" y="1245431"/>
            <a:ext cx="99738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DECODE_NEW_INST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13586403" y="598436"/>
          <a:ext cx="2493618" cy="237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624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706319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611459">
                  <a:extLst>
                    <a:ext uri="{9D8B030D-6E8A-4147-A177-3AD203B41FA5}">
                      <a16:colId xmlns:a16="http://schemas.microsoft.com/office/drawing/2014/main" val="987413554"/>
                    </a:ext>
                  </a:extLst>
                </a:gridCol>
                <a:gridCol w="600216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</a:tblGrid>
              <a:tr h="118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Operation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C</a:t>
                      </a: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ode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Register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Destination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Register Sources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Immediate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Value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8586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Instruction (Compatible Fixed-Size Instruction set)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080028" y="584125"/>
            <a:ext cx="99738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DECODE_NEW_INST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 flipH="1">
            <a:off x="12523635" y="740352"/>
            <a:ext cx="74038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15613622" y="48878"/>
            <a:ext cx="23675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ko-KR" sz="1200" b="1" dirty="0">
                <a:solidFill>
                  <a:schemeClr val="bg2">
                    <a:lumMod val="50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Instruction Memory (IM)</a:t>
            </a:r>
            <a:endParaRPr lang="ko-KR" altLang="en-US" sz="1200" b="1" dirty="0">
              <a:solidFill>
                <a:schemeClr val="bg2">
                  <a:lumMod val="50000"/>
                </a:schemeClr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2523632" y="48878"/>
            <a:ext cx="0" cy="69147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아래쪽 화살표 11"/>
          <p:cNvSpPr/>
          <p:nvPr/>
        </p:nvSpPr>
        <p:spPr>
          <a:xfrm>
            <a:off x="14325154" y="883005"/>
            <a:ext cx="272606" cy="267764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13" name="TextBox 12"/>
          <p:cNvSpPr txBox="1"/>
          <p:nvPr/>
        </p:nvSpPr>
        <p:spPr>
          <a:xfrm>
            <a:off x="14597762" y="895170"/>
            <a:ext cx="1415772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Handshake Signals</a:t>
            </a: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/>
          </p:nvPr>
        </p:nvGraphicFramePr>
        <p:xfrm>
          <a:off x="12771115" y="1844442"/>
          <a:ext cx="3523359" cy="31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75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6524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493361">
                  <a:extLst>
                    <a:ext uri="{9D8B030D-6E8A-4147-A177-3AD203B41FA5}">
                      <a16:colId xmlns:a16="http://schemas.microsoft.com/office/drawing/2014/main" val="987413554"/>
                    </a:ext>
                  </a:extLst>
                </a:gridCol>
                <a:gridCol w="416508">
                  <a:extLst>
                    <a:ext uri="{9D8B030D-6E8A-4147-A177-3AD203B41FA5}">
                      <a16:colId xmlns:a16="http://schemas.microsoft.com/office/drawing/2014/main" val="1078841163"/>
                    </a:ext>
                  </a:extLst>
                </a:gridCol>
                <a:gridCol w="700490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  <a:gridCol w="605829">
                  <a:extLst>
                    <a:ext uri="{9D8B030D-6E8A-4147-A177-3AD203B41FA5}">
                      <a16:colId xmlns:a16="http://schemas.microsoft.com/office/drawing/2014/main" val="2701725193"/>
                    </a:ext>
                  </a:extLst>
                </a:gridCol>
                <a:gridCol w="685972">
                  <a:extLst>
                    <a:ext uri="{9D8B030D-6E8A-4147-A177-3AD203B41FA5}">
                      <a16:colId xmlns:a16="http://schemas.microsoft.com/office/drawing/2014/main" val="774311305"/>
                    </a:ext>
                  </a:extLst>
                </a:gridCol>
              </a:tblGrid>
              <a:tr h="1985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Operation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Code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Immediate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Value</a:t>
                      </a:r>
                      <a:endParaRPr kumimoji="0" lang="ko-KR" altLang="en-US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Sources Number</a:t>
                      </a: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Sources Ready Flag</a:t>
                      </a: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8586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Instruction State Entry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6294473" y="1924782"/>
            <a:ext cx="99738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DECODE_NEW_INST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0085475" y="3334070"/>
            <a:ext cx="8079841" cy="872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5" tIns="19290" rIns="38575" bIns="1929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endParaRPr lang="en-US" altLang="ko-KR" sz="760" b="1" dirty="0">
              <a:solidFill>
                <a:schemeClr val="tx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(IST)</a:t>
            </a:r>
            <a:endParaRPr lang="ko-KR" altLang="en-US" sz="760" b="1" dirty="0">
              <a:solidFill>
                <a:schemeClr val="tx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Instruction </a:t>
            </a:r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State </a:t>
            </a:r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Table</a:t>
            </a:r>
            <a:endParaRPr lang="ko-KR" altLang="en-US" sz="760" b="1" dirty="0">
              <a:solidFill>
                <a:schemeClr val="tx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/>
          </p:nvPr>
        </p:nvGraphicFramePr>
        <p:xfrm>
          <a:off x="12771116" y="3293161"/>
          <a:ext cx="3523359" cy="31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75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6524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493361">
                  <a:extLst>
                    <a:ext uri="{9D8B030D-6E8A-4147-A177-3AD203B41FA5}">
                      <a16:colId xmlns:a16="http://schemas.microsoft.com/office/drawing/2014/main" val="987413554"/>
                    </a:ext>
                  </a:extLst>
                </a:gridCol>
                <a:gridCol w="416508">
                  <a:extLst>
                    <a:ext uri="{9D8B030D-6E8A-4147-A177-3AD203B41FA5}">
                      <a16:colId xmlns:a16="http://schemas.microsoft.com/office/drawing/2014/main" val="1078841163"/>
                    </a:ext>
                  </a:extLst>
                </a:gridCol>
                <a:gridCol w="700490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  <a:gridCol w="605829">
                  <a:extLst>
                    <a:ext uri="{9D8B030D-6E8A-4147-A177-3AD203B41FA5}">
                      <a16:colId xmlns:a16="http://schemas.microsoft.com/office/drawing/2014/main" val="2701725193"/>
                    </a:ext>
                  </a:extLst>
                </a:gridCol>
                <a:gridCol w="685972">
                  <a:extLst>
                    <a:ext uri="{9D8B030D-6E8A-4147-A177-3AD203B41FA5}">
                      <a16:colId xmlns:a16="http://schemas.microsoft.com/office/drawing/2014/main" val="774311305"/>
                    </a:ext>
                  </a:extLst>
                </a:gridCol>
              </a:tblGrid>
              <a:tr h="118586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Instruction State Entry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790383"/>
                  </a:ext>
                </a:extLst>
              </a:tr>
              <a:tr h="1985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Operation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Code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Immediate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Value</a:t>
                      </a:r>
                      <a:endParaRPr kumimoji="0" lang="ko-KR" altLang="en-US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Sources Number</a:t>
                      </a: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Sources Ready Flag</a:t>
                      </a: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6294473" y="3335431"/>
            <a:ext cx="99738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DECODE_NEW_INST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946454" y="2253040"/>
            <a:ext cx="1415772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Handshake Signals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/>
          </p:nvPr>
        </p:nvGraphicFramePr>
        <p:xfrm>
          <a:off x="13893654" y="3938984"/>
          <a:ext cx="2801117" cy="31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3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1967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487054">
                  <a:extLst>
                    <a:ext uri="{9D8B030D-6E8A-4147-A177-3AD203B41FA5}">
                      <a16:colId xmlns:a16="http://schemas.microsoft.com/office/drawing/2014/main" val="987413554"/>
                    </a:ext>
                  </a:extLst>
                </a:gridCol>
                <a:gridCol w="411183">
                  <a:extLst>
                    <a:ext uri="{9D8B030D-6E8A-4147-A177-3AD203B41FA5}">
                      <a16:colId xmlns:a16="http://schemas.microsoft.com/office/drawing/2014/main" val="1078841163"/>
                    </a:ext>
                  </a:extLst>
                </a:gridCol>
                <a:gridCol w="691535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  <a:gridCol w="598085">
                  <a:extLst>
                    <a:ext uri="{9D8B030D-6E8A-4147-A177-3AD203B41FA5}">
                      <a16:colId xmlns:a16="http://schemas.microsoft.com/office/drawing/2014/main" val="2701725193"/>
                    </a:ext>
                  </a:extLst>
                </a:gridCol>
              </a:tblGrid>
              <a:tr h="1985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Operation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Code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Immediate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Value</a:t>
                      </a:r>
                      <a:endParaRPr kumimoji="0" lang="ko-KR" altLang="en-US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Sources Number</a:t>
                      </a: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858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Instruction Entry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6690123" y="4020713"/>
            <a:ext cx="1508746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 DECODE_NEW_INST + EX_PATH )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/>
          </p:nvPr>
        </p:nvGraphicFramePr>
        <p:xfrm>
          <a:off x="11408349" y="3938984"/>
          <a:ext cx="1347652" cy="31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309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718343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</a:tblGrid>
              <a:tr h="1985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Instruction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State 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Entry 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858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IST-Internal Register Mapping Information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2751380" y="4018190"/>
            <a:ext cx="99738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DECODE_NEW_INST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5" name="아래쪽 화살표 24"/>
          <p:cNvSpPr/>
          <p:nvPr/>
        </p:nvSpPr>
        <p:spPr>
          <a:xfrm>
            <a:off x="13684537" y="2221319"/>
            <a:ext cx="272606" cy="1031130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26" name="직사각형 25"/>
          <p:cNvSpPr/>
          <p:nvPr/>
        </p:nvSpPr>
        <p:spPr>
          <a:xfrm>
            <a:off x="10765160" y="4653653"/>
            <a:ext cx="9696918" cy="872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5" tIns="19290" rIns="38575" bIns="19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Ready Station</a:t>
            </a:r>
          </a:p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(RS)</a:t>
            </a:r>
            <a:endParaRPr lang="ko-KR" altLang="en-US" sz="760" b="1" dirty="0">
              <a:solidFill>
                <a:schemeClr val="tx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/>
          </p:nvPr>
        </p:nvGraphicFramePr>
        <p:xfrm>
          <a:off x="13893654" y="5275436"/>
          <a:ext cx="2801117" cy="31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3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1967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487054">
                  <a:extLst>
                    <a:ext uri="{9D8B030D-6E8A-4147-A177-3AD203B41FA5}">
                      <a16:colId xmlns:a16="http://schemas.microsoft.com/office/drawing/2014/main" val="987413554"/>
                    </a:ext>
                  </a:extLst>
                </a:gridCol>
                <a:gridCol w="411183">
                  <a:extLst>
                    <a:ext uri="{9D8B030D-6E8A-4147-A177-3AD203B41FA5}">
                      <a16:colId xmlns:a16="http://schemas.microsoft.com/office/drawing/2014/main" val="1078841163"/>
                    </a:ext>
                  </a:extLst>
                </a:gridCol>
                <a:gridCol w="691535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  <a:gridCol w="598085">
                  <a:extLst>
                    <a:ext uri="{9D8B030D-6E8A-4147-A177-3AD203B41FA5}">
                      <a16:colId xmlns:a16="http://schemas.microsoft.com/office/drawing/2014/main" val="2701725193"/>
                    </a:ext>
                  </a:extLst>
                </a:gridCol>
              </a:tblGrid>
              <a:tr h="1985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Operation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Code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Immediate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Value</a:t>
                      </a:r>
                      <a:endParaRPr kumimoji="0" lang="ko-KR" altLang="en-US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Sources Number</a:t>
                      </a: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858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Instruction Entry (EX Type 2)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>
            <p:extLst/>
          </p:nvPr>
        </p:nvGraphicFramePr>
        <p:xfrm>
          <a:off x="10975487" y="5275436"/>
          <a:ext cx="2801117" cy="31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3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1967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487054">
                  <a:extLst>
                    <a:ext uri="{9D8B030D-6E8A-4147-A177-3AD203B41FA5}">
                      <a16:colId xmlns:a16="http://schemas.microsoft.com/office/drawing/2014/main" val="987413554"/>
                    </a:ext>
                  </a:extLst>
                </a:gridCol>
                <a:gridCol w="411183">
                  <a:extLst>
                    <a:ext uri="{9D8B030D-6E8A-4147-A177-3AD203B41FA5}">
                      <a16:colId xmlns:a16="http://schemas.microsoft.com/office/drawing/2014/main" val="1078841163"/>
                    </a:ext>
                  </a:extLst>
                </a:gridCol>
                <a:gridCol w="691535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  <a:gridCol w="598085">
                  <a:extLst>
                    <a:ext uri="{9D8B030D-6E8A-4147-A177-3AD203B41FA5}">
                      <a16:colId xmlns:a16="http://schemas.microsoft.com/office/drawing/2014/main" val="2701725193"/>
                    </a:ext>
                  </a:extLst>
                </a:gridCol>
              </a:tblGrid>
              <a:tr h="1985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Operation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Code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Immediate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Value</a:t>
                      </a:r>
                      <a:endParaRPr kumimoji="0" lang="ko-KR" altLang="en-US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Sources Number</a:t>
                      </a: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858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Instruction </a:t>
                      </a: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Entry (EX Type 1)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/>
          </p:nvPr>
        </p:nvGraphicFramePr>
        <p:xfrm>
          <a:off x="17400965" y="5275436"/>
          <a:ext cx="2801117" cy="31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3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1967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487054">
                  <a:extLst>
                    <a:ext uri="{9D8B030D-6E8A-4147-A177-3AD203B41FA5}">
                      <a16:colId xmlns:a16="http://schemas.microsoft.com/office/drawing/2014/main" val="987413554"/>
                    </a:ext>
                  </a:extLst>
                </a:gridCol>
                <a:gridCol w="411183">
                  <a:extLst>
                    <a:ext uri="{9D8B030D-6E8A-4147-A177-3AD203B41FA5}">
                      <a16:colId xmlns:a16="http://schemas.microsoft.com/office/drawing/2014/main" val="1078841163"/>
                    </a:ext>
                  </a:extLst>
                </a:gridCol>
                <a:gridCol w="691535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  <a:gridCol w="598085">
                  <a:extLst>
                    <a:ext uri="{9D8B030D-6E8A-4147-A177-3AD203B41FA5}">
                      <a16:colId xmlns:a16="http://schemas.microsoft.com/office/drawing/2014/main" val="2701725193"/>
                    </a:ext>
                  </a:extLst>
                </a:gridCol>
              </a:tblGrid>
              <a:tr h="1985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Operation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Code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Immediate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Value</a:t>
                      </a:r>
                      <a:endParaRPr kumimoji="0" lang="ko-KR" altLang="en-US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Sources Number</a:t>
                      </a: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858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Instruction Entry (EX Type </a:t>
                      </a:r>
                      <a:r>
                        <a:rPr kumimoji="0" lang="en-US" altLang="ko-KR" sz="5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n</a:t>
                      </a: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)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/>
          </p:nvPr>
        </p:nvGraphicFramePr>
        <p:xfrm>
          <a:off x="13893654" y="4609109"/>
          <a:ext cx="2801117" cy="31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3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1967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487054">
                  <a:extLst>
                    <a:ext uri="{9D8B030D-6E8A-4147-A177-3AD203B41FA5}">
                      <a16:colId xmlns:a16="http://schemas.microsoft.com/office/drawing/2014/main" val="987413554"/>
                    </a:ext>
                  </a:extLst>
                </a:gridCol>
                <a:gridCol w="411183">
                  <a:extLst>
                    <a:ext uri="{9D8B030D-6E8A-4147-A177-3AD203B41FA5}">
                      <a16:colId xmlns:a16="http://schemas.microsoft.com/office/drawing/2014/main" val="1078841163"/>
                    </a:ext>
                  </a:extLst>
                </a:gridCol>
                <a:gridCol w="691535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  <a:gridCol w="598085">
                  <a:extLst>
                    <a:ext uri="{9D8B030D-6E8A-4147-A177-3AD203B41FA5}">
                      <a16:colId xmlns:a16="http://schemas.microsoft.com/office/drawing/2014/main" val="2701725193"/>
                    </a:ext>
                  </a:extLst>
                </a:gridCol>
              </a:tblGrid>
              <a:tr h="11858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Instruction Entry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462805"/>
                  </a:ext>
                </a:extLst>
              </a:tr>
              <a:tr h="1985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Operation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Code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Immediate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Value</a:t>
                      </a:r>
                      <a:endParaRPr kumimoji="0" lang="ko-KR" altLang="en-US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Sources Number</a:t>
                      </a: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16690123" y="4657228"/>
            <a:ext cx="1508746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 DECODE_NEW_INST + EX_PATH )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 flipH="1">
            <a:off x="17109924" y="740352"/>
            <a:ext cx="368235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아래쪽 화살표 38"/>
          <p:cNvSpPr/>
          <p:nvPr/>
        </p:nvSpPr>
        <p:spPr>
          <a:xfrm>
            <a:off x="14518037" y="5629435"/>
            <a:ext cx="272606" cy="267764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40" name="TextBox 39"/>
          <p:cNvSpPr txBox="1"/>
          <p:nvPr/>
        </p:nvSpPr>
        <p:spPr>
          <a:xfrm>
            <a:off x="14799369" y="5641607"/>
            <a:ext cx="1415772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Handshake Signals</a:t>
            </a:r>
          </a:p>
        </p:txBody>
      </p:sp>
      <p:sp>
        <p:nvSpPr>
          <p:cNvPr id="41" name="아래쪽 화살표 40"/>
          <p:cNvSpPr/>
          <p:nvPr/>
        </p:nvSpPr>
        <p:spPr>
          <a:xfrm>
            <a:off x="18014687" y="5629435"/>
            <a:ext cx="272606" cy="267764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42" name="TextBox 41"/>
          <p:cNvSpPr txBox="1"/>
          <p:nvPr/>
        </p:nvSpPr>
        <p:spPr>
          <a:xfrm>
            <a:off x="18296020" y="5641607"/>
            <a:ext cx="1415772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Handshake Signals</a:t>
            </a:r>
          </a:p>
        </p:txBody>
      </p:sp>
      <p:sp>
        <p:nvSpPr>
          <p:cNvPr id="43" name="아래쪽 화살표 42"/>
          <p:cNvSpPr/>
          <p:nvPr/>
        </p:nvSpPr>
        <p:spPr>
          <a:xfrm>
            <a:off x="11529004" y="5629435"/>
            <a:ext cx="272606" cy="267764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44" name="TextBox 43"/>
          <p:cNvSpPr txBox="1"/>
          <p:nvPr/>
        </p:nvSpPr>
        <p:spPr>
          <a:xfrm>
            <a:off x="11810338" y="5641607"/>
            <a:ext cx="1415772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Handshake Signals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027526" y="5089974"/>
            <a:ext cx="946093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RS_OUT_ENTRY[0]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5945271" y="5089974"/>
            <a:ext cx="934871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RS_OUT_ENTRY[1]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458512" y="5089974"/>
            <a:ext cx="94448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RS_OUT_ENTRY[</a:t>
            </a:r>
            <a:r>
              <a:rPr lang="en-US" altLang="ko-KR" sz="619" b="1" u="sng" dirty="0">
                <a:solidFill>
                  <a:srgbClr val="FF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n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]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6902631" y="5143140"/>
            <a:ext cx="2904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...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0562440" y="5956891"/>
            <a:ext cx="10125075" cy="479110"/>
          </a:xfrm>
          <a:prstGeom prst="rect">
            <a:avLst/>
          </a:prstGeom>
          <a:noFill/>
          <a:ln w="19050">
            <a:solidFill>
              <a:srgbClr val="7F7F7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14164475" y="5962659"/>
            <a:ext cx="32364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ko-KR" sz="2400" b="1" dirty="0">
                <a:solidFill>
                  <a:schemeClr val="bg2">
                    <a:lumMod val="50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EX Area</a:t>
            </a:r>
            <a:endParaRPr lang="ko-KR" altLang="en-US" sz="2400" b="1" dirty="0">
              <a:solidFill>
                <a:schemeClr val="bg2">
                  <a:lumMod val="50000"/>
                </a:schemeClr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0267164" y="6886917"/>
            <a:ext cx="10296525" cy="7442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5" tIns="19290" rIns="38575" bIns="19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Write Back Concatenation</a:t>
            </a:r>
          </a:p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(WBC)</a:t>
            </a:r>
            <a:endParaRPr lang="ko-KR" altLang="en-US" sz="760" b="1" dirty="0">
              <a:solidFill>
                <a:schemeClr val="tx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/>
          </p:nvPr>
        </p:nvGraphicFramePr>
        <p:xfrm>
          <a:off x="11566782" y="6826067"/>
          <a:ext cx="1902880" cy="305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3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1967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691535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  <a:gridCol w="598085">
                  <a:extLst>
                    <a:ext uri="{9D8B030D-6E8A-4147-A177-3AD203B41FA5}">
                      <a16:colId xmlns:a16="http://schemas.microsoft.com/office/drawing/2014/main" val="2701725193"/>
                    </a:ext>
                  </a:extLst>
                </a:gridCol>
              </a:tblGrid>
              <a:tr h="11478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Result (EX Type: Change Program Counter)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057934"/>
                  </a:ext>
                </a:extLst>
              </a:tr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New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52" name="아래쪽 화살표 51"/>
          <p:cNvSpPr/>
          <p:nvPr/>
        </p:nvSpPr>
        <p:spPr>
          <a:xfrm>
            <a:off x="14518037" y="4288122"/>
            <a:ext cx="272606" cy="267764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53" name="TextBox 52"/>
          <p:cNvSpPr txBox="1"/>
          <p:nvPr/>
        </p:nvSpPr>
        <p:spPr>
          <a:xfrm>
            <a:off x="14790643" y="4300295"/>
            <a:ext cx="1242648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</a:t>
            </a:r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Valid Indicator</a:t>
            </a:r>
            <a:endParaRPr lang="en-US" altLang="ko-KR" sz="619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5" name="아래쪽 화살표 54"/>
          <p:cNvSpPr/>
          <p:nvPr/>
        </p:nvSpPr>
        <p:spPr>
          <a:xfrm>
            <a:off x="11816819" y="6504794"/>
            <a:ext cx="272606" cy="267764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56" name="TextBox 55"/>
          <p:cNvSpPr txBox="1"/>
          <p:nvPr/>
        </p:nvSpPr>
        <p:spPr>
          <a:xfrm>
            <a:off x="12089425" y="6516967"/>
            <a:ext cx="1242648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</a:t>
            </a:r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Valid Indicator</a:t>
            </a:r>
            <a:endParaRPr lang="en-US" altLang="ko-KR" sz="619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>
            <p:extLst/>
          </p:nvPr>
        </p:nvGraphicFramePr>
        <p:xfrm>
          <a:off x="14654155" y="6826067"/>
          <a:ext cx="1304795" cy="305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3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1967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691535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</a:tblGrid>
              <a:tr h="11478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Result (EX Type: ALU)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057934"/>
                  </a:ext>
                </a:extLst>
              </a:tr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58" name="아래쪽 화살표 57"/>
          <p:cNvSpPr/>
          <p:nvPr/>
        </p:nvSpPr>
        <p:spPr>
          <a:xfrm>
            <a:off x="14710725" y="6504794"/>
            <a:ext cx="272606" cy="267764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59" name="TextBox 58"/>
          <p:cNvSpPr txBox="1"/>
          <p:nvPr/>
        </p:nvSpPr>
        <p:spPr>
          <a:xfrm>
            <a:off x="14983331" y="6516967"/>
            <a:ext cx="1242648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</a:t>
            </a:r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Valid Indicator</a:t>
            </a:r>
            <a:endParaRPr lang="en-US" altLang="ko-KR" sz="619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6902631" y="6534132"/>
            <a:ext cx="2904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...</a:t>
            </a:r>
            <a:endParaRPr lang="en-US" altLang="ko-KR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3426807" y="6890799"/>
            <a:ext cx="98135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EX_OUT_RESULT[0]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>
            <p:extLst/>
          </p:nvPr>
        </p:nvGraphicFramePr>
        <p:xfrm>
          <a:off x="18205092" y="6826067"/>
          <a:ext cx="1304795" cy="305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3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1967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  <a:gridCol w="691535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</a:tblGrid>
              <a:tr h="11478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Result (EX Type: Memory)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057934"/>
                  </a:ext>
                </a:extLst>
              </a:tr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63" name="아래쪽 화살표 62"/>
          <p:cNvSpPr/>
          <p:nvPr/>
        </p:nvSpPr>
        <p:spPr>
          <a:xfrm>
            <a:off x="18261663" y="6504794"/>
            <a:ext cx="272606" cy="267764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64" name="TextBox 63"/>
          <p:cNvSpPr txBox="1"/>
          <p:nvPr/>
        </p:nvSpPr>
        <p:spPr>
          <a:xfrm>
            <a:off x="18534269" y="6516967"/>
            <a:ext cx="1242648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</a:t>
            </a:r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Valid Indicator</a:t>
            </a:r>
            <a:endParaRPr lang="en-US" altLang="ko-KR" sz="619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5916086" y="6890799"/>
            <a:ext cx="970137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EX_OUT_RESULT[1]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9467024" y="6890799"/>
            <a:ext cx="941283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EX_OUT_ENTRY[</a:t>
            </a:r>
            <a:r>
              <a:rPr lang="en-US" altLang="ko-KR" sz="619" b="1" u="sng" dirty="0">
                <a:solidFill>
                  <a:srgbClr val="FF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n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]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67" name="표 66"/>
          <p:cNvGraphicFramePr>
            <a:graphicFrameLocks noGrp="1"/>
          </p:cNvGraphicFramePr>
          <p:nvPr>
            <p:extLst/>
          </p:nvPr>
        </p:nvGraphicFramePr>
        <p:xfrm>
          <a:off x="10216021" y="7236322"/>
          <a:ext cx="4446797" cy="455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555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1708800">
                  <a:extLst>
                    <a:ext uri="{9D8B030D-6E8A-4147-A177-3AD203B41FA5}">
                      <a16:colId xmlns:a16="http://schemas.microsoft.com/office/drawing/2014/main" val="987413554"/>
                    </a:ext>
                  </a:extLst>
                </a:gridCol>
                <a:gridCol w="1764442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</a:tblGrid>
              <a:tr h="340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New Program Counter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with Branch active</a:t>
                      </a:r>
                      <a:endParaRPr kumimoji="0" lang="ko-KR" altLang="en-US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478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</a:t>
                      </a: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Results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11266501" y="7303945"/>
          <a:ext cx="613260" cy="190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3">
                  <a:extLst>
                    <a:ext uri="{9D8B030D-6E8A-4147-A177-3AD203B41FA5}">
                      <a16:colId xmlns:a16="http://schemas.microsoft.com/office/drawing/2014/main" val="1433128000"/>
                    </a:ext>
                  </a:extLst>
                </a:gridCol>
                <a:gridCol w="351967">
                  <a:extLst>
                    <a:ext uri="{9D8B030D-6E8A-4147-A177-3AD203B41FA5}">
                      <a16:colId xmlns:a16="http://schemas.microsoft.com/office/drawing/2014/main" val="387647703"/>
                    </a:ext>
                  </a:extLst>
                </a:gridCol>
              </a:tblGrid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533073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12974022" y="7303945"/>
          <a:ext cx="691535" cy="190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535">
                  <a:extLst>
                    <a:ext uri="{9D8B030D-6E8A-4147-A177-3AD203B41FA5}">
                      <a16:colId xmlns:a16="http://schemas.microsoft.com/office/drawing/2014/main" val="2631941025"/>
                    </a:ext>
                  </a:extLst>
                </a:gridCol>
              </a:tblGrid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9930"/>
                  </a:ext>
                </a:extLst>
              </a:tr>
            </a:tbl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11830433" y="7302388"/>
            <a:ext cx="1048685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EX_OUT_RESULT_ALL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3614137" y="7302388"/>
            <a:ext cx="1048685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EX_OUT_RESULT_ALL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17703" y="3334070"/>
            <a:ext cx="6543152" cy="872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5" tIns="19290" rIns="38575" bIns="19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Physical Register Mapper</a:t>
            </a:r>
            <a:endParaRPr lang="en-US" altLang="ko-KR" sz="760" b="1" dirty="0">
              <a:solidFill>
                <a:schemeClr val="tx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(PRM)</a:t>
            </a:r>
            <a:endParaRPr lang="ko-KR" altLang="en-US" sz="760" b="1" dirty="0">
              <a:solidFill>
                <a:schemeClr val="tx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74" name="표 73"/>
          <p:cNvGraphicFramePr>
            <a:graphicFrameLocks noGrp="1"/>
          </p:cNvGraphicFramePr>
          <p:nvPr>
            <p:extLst/>
          </p:nvPr>
        </p:nvGraphicFramePr>
        <p:xfrm>
          <a:off x="6676108" y="3938984"/>
          <a:ext cx="1347652" cy="31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309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718343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</a:tblGrid>
              <a:tr h="1985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Instruction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State 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Entry 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858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IST-Internal Register Mapping Information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7963473" y="4018190"/>
            <a:ext cx="99738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DECODE_NEW_INST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76" name="표 75"/>
          <p:cNvGraphicFramePr>
            <a:graphicFrameLocks noGrp="1"/>
          </p:cNvGraphicFramePr>
          <p:nvPr>
            <p:extLst/>
          </p:nvPr>
        </p:nvGraphicFramePr>
        <p:xfrm>
          <a:off x="2362619" y="3800475"/>
          <a:ext cx="1764442" cy="455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442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</a:tblGrid>
              <a:tr h="34092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4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</a:t>
                      </a: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Results (Parts of I.R.D.N)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graphicFrame>
        <p:nvGraphicFramePr>
          <p:cNvPr id="78" name="표 77"/>
          <p:cNvGraphicFramePr>
            <a:graphicFrameLocks noGrp="1"/>
          </p:cNvGraphicFramePr>
          <p:nvPr/>
        </p:nvGraphicFramePr>
        <p:xfrm>
          <a:off x="2436147" y="3868097"/>
          <a:ext cx="691535" cy="190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535">
                  <a:extLst>
                    <a:ext uri="{9D8B030D-6E8A-4147-A177-3AD203B41FA5}">
                      <a16:colId xmlns:a16="http://schemas.microsoft.com/office/drawing/2014/main" val="2631941025"/>
                    </a:ext>
                  </a:extLst>
                </a:gridCol>
              </a:tblGrid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9930"/>
                  </a:ext>
                </a:extLst>
              </a:tr>
            </a:tbl>
          </a:graphicData>
        </a:graphic>
      </p:graphicFrame>
      <p:sp>
        <p:nvSpPr>
          <p:cNvPr id="80" name="TextBox 79"/>
          <p:cNvSpPr txBox="1"/>
          <p:nvPr/>
        </p:nvSpPr>
        <p:spPr>
          <a:xfrm>
            <a:off x="3076262" y="3866540"/>
            <a:ext cx="1048685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EX_OUT_RESULT_ALL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cxnSp>
        <p:nvCxnSpPr>
          <p:cNvPr id="82" name="직선 연결선 81"/>
          <p:cNvCxnSpPr/>
          <p:nvPr/>
        </p:nvCxnSpPr>
        <p:spPr>
          <a:xfrm>
            <a:off x="13830365" y="5407041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>
            <a:off x="17038400" y="5407041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>
            <a:off x="17038400" y="6795743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14408157" y="6795743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>
            <a:off x="13755177" y="4018182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" name="표 91"/>
          <p:cNvGraphicFramePr>
            <a:graphicFrameLocks noGrp="1"/>
          </p:cNvGraphicFramePr>
          <p:nvPr>
            <p:extLst/>
          </p:nvPr>
        </p:nvGraphicFramePr>
        <p:xfrm>
          <a:off x="6627906" y="3296016"/>
          <a:ext cx="1347652" cy="317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309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718343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</a:tblGrid>
              <a:tr h="12681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IST-Internal Register Mapping Information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87716"/>
                  </a:ext>
                </a:extLst>
              </a:tr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Instruction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State 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Entry 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7916865" y="3344269"/>
            <a:ext cx="1053494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PRM_ENTRY_UPDATE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94" name="표 93"/>
          <p:cNvGraphicFramePr>
            <a:graphicFrameLocks noGrp="1"/>
          </p:cNvGraphicFramePr>
          <p:nvPr>
            <p:extLst/>
          </p:nvPr>
        </p:nvGraphicFramePr>
        <p:xfrm>
          <a:off x="10301653" y="3297248"/>
          <a:ext cx="1347652" cy="317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309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718343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</a:tblGrid>
              <a:tr h="12681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IST-Internal Register Mapping Information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87716"/>
                  </a:ext>
                </a:extLst>
              </a:tr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Instruction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State 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Entry 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11590612" y="3341035"/>
            <a:ext cx="1053494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PRM_ENTRY_UPDATE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cxnSp>
        <p:nvCxnSpPr>
          <p:cNvPr id="96" name="직선 연결선 95"/>
          <p:cNvCxnSpPr/>
          <p:nvPr/>
        </p:nvCxnSpPr>
        <p:spPr>
          <a:xfrm>
            <a:off x="12640752" y="3200427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자유형 99"/>
          <p:cNvSpPr/>
          <p:nvPr/>
        </p:nvSpPr>
        <p:spPr>
          <a:xfrm>
            <a:off x="7162297" y="4290670"/>
            <a:ext cx="4955327" cy="293505"/>
          </a:xfrm>
          <a:custGeom>
            <a:avLst/>
            <a:gdLst>
              <a:gd name="connsiteX0" fmla="*/ 4829685 w 4955327"/>
              <a:gd name="connsiteY0" fmla="*/ 0 h 293505"/>
              <a:gd name="connsiteX1" fmla="*/ 4954710 w 4955327"/>
              <a:gd name="connsiteY1" fmla="*/ 0 h 293505"/>
              <a:gd name="connsiteX2" fmla="*/ 4954710 w 4955327"/>
              <a:gd name="connsiteY2" fmla="*/ 212288 h 293505"/>
              <a:gd name="connsiteX3" fmla="*/ 4955327 w 4955327"/>
              <a:gd name="connsiteY3" fmla="*/ 212288 h 293505"/>
              <a:gd name="connsiteX4" fmla="*/ 4955327 w 4955327"/>
              <a:gd name="connsiteY4" fmla="*/ 293505 h 293505"/>
              <a:gd name="connsiteX5" fmla="*/ 83060 w 4955327"/>
              <a:gd name="connsiteY5" fmla="*/ 293505 h 293505"/>
              <a:gd name="connsiteX6" fmla="*/ 83060 w 4955327"/>
              <a:gd name="connsiteY6" fmla="*/ 292609 h 293505"/>
              <a:gd name="connsiteX7" fmla="*/ 68151 w 4955327"/>
              <a:gd name="connsiteY7" fmla="*/ 292609 h 293505"/>
              <a:gd name="connsiteX8" fmla="*/ 68151 w 4955327"/>
              <a:gd name="connsiteY8" fmla="*/ 158727 h 293505"/>
              <a:gd name="connsiteX9" fmla="*/ 0 w 4955327"/>
              <a:gd name="connsiteY9" fmla="*/ 158727 h 293505"/>
              <a:gd name="connsiteX10" fmla="*/ 136303 w 4955327"/>
              <a:gd name="connsiteY10" fmla="*/ 24845 h 293505"/>
              <a:gd name="connsiteX11" fmla="*/ 272606 w 4955327"/>
              <a:gd name="connsiteY11" fmla="*/ 158727 h 293505"/>
              <a:gd name="connsiteX12" fmla="*/ 204454 w 4955327"/>
              <a:gd name="connsiteY12" fmla="*/ 158727 h 293505"/>
              <a:gd name="connsiteX13" fmla="*/ 204454 w 4955327"/>
              <a:gd name="connsiteY13" fmla="*/ 212288 h 293505"/>
              <a:gd name="connsiteX14" fmla="*/ 4829685 w 4955327"/>
              <a:gd name="connsiteY14" fmla="*/ 212288 h 29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955327" h="293505">
                <a:moveTo>
                  <a:pt x="4829685" y="0"/>
                </a:moveTo>
                <a:lnTo>
                  <a:pt x="4954710" y="0"/>
                </a:lnTo>
                <a:lnTo>
                  <a:pt x="4954710" y="212288"/>
                </a:lnTo>
                <a:lnTo>
                  <a:pt x="4955327" y="212288"/>
                </a:lnTo>
                <a:lnTo>
                  <a:pt x="4955327" y="293505"/>
                </a:lnTo>
                <a:lnTo>
                  <a:pt x="83060" y="293505"/>
                </a:lnTo>
                <a:lnTo>
                  <a:pt x="83060" y="292609"/>
                </a:lnTo>
                <a:lnTo>
                  <a:pt x="68151" y="292609"/>
                </a:lnTo>
                <a:lnTo>
                  <a:pt x="68151" y="158727"/>
                </a:lnTo>
                <a:lnTo>
                  <a:pt x="0" y="158727"/>
                </a:lnTo>
                <a:lnTo>
                  <a:pt x="136303" y="24845"/>
                </a:lnTo>
                <a:lnTo>
                  <a:pt x="272606" y="158727"/>
                </a:lnTo>
                <a:lnTo>
                  <a:pt x="204454" y="158727"/>
                </a:lnTo>
                <a:lnTo>
                  <a:pt x="204454" y="212288"/>
                </a:lnTo>
                <a:lnTo>
                  <a:pt x="4829685" y="212288"/>
                </a:lnTo>
                <a:close/>
              </a:path>
            </a:pathLst>
          </a:custGeom>
          <a:solidFill>
            <a:srgbClr val="FFE699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2" name="TextBox 101"/>
          <p:cNvSpPr txBox="1"/>
          <p:nvPr/>
        </p:nvSpPr>
        <p:spPr>
          <a:xfrm>
            <a:off x="12089425" y="4345480"/>
            <a:ext cx="1242648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</a:t>
            </a:r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Valid Indicator</a:t>
            </a:r>
            <a:endParaRPr lang="en-US" altLang="ko-KR" sz="619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295540" y="3065703"/>
            <a:ext cx="1242648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</a:t>
            </a:r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Valid Indicator</a:t>
            </a:r>
            <a:endParaRPr lang="en-US" altLang="ko-KR" sz="619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104" name="표 103"/>
          <p:cNvGraphicFramePr>
            <a:graphicFrameLocks noGrp="1"/>
          </p:cNvGraphicFramePr>
          <p:nvPr>
            <p:extLst/>
          </p:nvPr>
        </p:nvGraphicFramePr>
        <p:xfrm>
          <a:off x="11029679" y="1200498"/>
          <a:ext cx="1764442" cy="455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442">
                  <a:extLst>
                    <a:ext uri="{9D8B030D-6E8A-4147-A177-3AD203B41FA5}">
                      <a16:colId xmlns:a16="http://schemas.microsoft.com/office/drawing/2014/main" val="1676734834"/>
                    </a:ext>
                  </a:extLst>
                </a:gridCol>
              </a:tblGrid>
              <a:tr h="114783">
                <a:tc>
                  <a:txBody>
                    <a:bodyPr/>
                    <a:lstStyle/>
                    <a:p>
                      <a:pPr marL="0" marR="0" lvl="0" indent="0" algn="ctr" defTabSz="95993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Results (Parts of I.R.D.N)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191235"/>
                  </a:ext>
                </a:extLst>
              </a:tr>
              <a:tr h="34092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graphicFrame>
        <p:nvGraphicFramePr>
          <p:cNvPr id="105" name="표 104"/>
          <p:cNvGraphicFramePr>
            <a:graphicFrameLocks noGrp="1"/>
          </p:cNvGraphicFramePr>
          <p:nvPr/>
        </p:nvGraphicFramePr>
        <p:xfrm>
          <a:off x="11103207" y="1389325"/>
          <a:ext cx="691535" cy="190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535">
                  <a:extLst>
                    <a:ext uri="{9D8B030D-6E8A-4147-A177-3AD203B41FA5}">
                      <a16:colId xmlns:a16="http://schemas.microsoft.com/office/drawing/2014/main" val="2631941025"/>
                    </a:ext>
                  </a:extLst>
                </a:gridCol>
              </a:tblGrid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Register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Destination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9930"/>
                  </a:ext>
                </a:extLst>
              </a:tr>
            </a:tbl>
          </a:graphicData>
        </a:graphic>
      </p:graphicFrame>
      <p:sp>
        <p:nvSpPr>
          <p:cNvPr id="106" name="TextBox 105"/>
          <p:cNvSpPr txBox="1"/>
          <p:nvPr/>
        </p:nvSpPr>
        <p:spPr>
          <a:xfrm>
            <a:off x="11743322" y="1387769"/>
            <a:ext cx="1048685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EX_OUT_RESULT_ALL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cxnSp>
        <p:nvCxnSpPr>
          <p:cNvPr id="107" name="직선 연결선 106"/>
          <p:cNvCxnSpPr/>
          <p:nvPr/>
        </p:nvCxnSpPr>
        <p:spPr>
          <a:xfrm>
            <a:off x="13226109" y="1082784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4363188" y="4018182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/>
          <p:nvPr/>
        </p:nvCxnSpPr>
        <p:spPr>
          <a:xfrm>
            <a:off x="6478077" y="3200427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6535227" y="4018182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10807082" y="1082784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9768470" y="1245431"/>
            <a:ext cx="99738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DECODE_NEW_INST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110" name="표 109"/>
          <p:cNvGraphicFramePr>
            <a:graphicFrameLocks noGrp="1"/>
          </p:cNvGraphicFramePr>
          <p:nvPr>
            <p:extLst/>
          </p:nvPr>
        </p:nvGraphicFramePr>
        <p:xfrm>
          <a:off x="4662163" y="3296016"/>
          <a:ext cx="793864" cy="317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864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</a:tblGrid>
              <a:tr h="1268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 Register Allocate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87716"/>
                  </a:ext>
                </a:extLst>
              </a:tr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New 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Register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111" name="TextBox 110"/>
          <p:cNvSpPr txBox="1"/>
          <p:nvPr/>
        </p:nvSpPr>
        <p:spPr>
          <a:xfrm>
            <a:off x="5425591" y="3334071"/>
            <a:ext cx="99738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DECODE_NEW_INST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112" name="표 111"/>
          <p:cNvGraphicFramePr>
            <a:graphicFrameLocks noGrp="1"/>
          </p:cNvGraphicFramePr>
          <p:nvPr>
            <p:extLst/>
          </p:nvPr>
        </p:nvGraphicFramePr>
        <p:xfrm>
          <a:off x="9014711" y="1200494"/>
          <a:ext cx="793864" cy="317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864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</a:tblGrid>
              <a:tr h="1268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 Register Allocate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87716"/>
                  </a:ext>
                </a:extLst>
              </a:tr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New 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Register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113" name="TextBox 112"/>
          <p:cNvSpPr txBox="1"/>
          <p:nvPr/>
        </p:nvSpPr>
        <p:spPr>
          <a:xfrm>
            <a:off x="5085198" y="3062177"/>
            <a:ext cx="1242648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</a:t>
            </a:r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Valid Indicator</a:t>
            </a:r>
            <a:endParaRPr lang="en-US" altLang="ko-KR" sz="619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114" name="표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730981"/>
              </p:ext>
            </p:extLst>
          </p:nvPr>
        </p:nvGraphicFramePr>
        <p:xfrm>
          <a:off x="4596136" y="3946397"/>
          <a:ext cx="862566" cy="30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566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Retired </a:t>
                      </a: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Register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996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 Register </a:t>
                      </a:r>
                      <a:r>
                        <a:rPr kumimoji="0" lang="en-US" altLang="ko-KR" sz="5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Unallocate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431343"/>
                  </a:ext>
                </a:extLst>
              </a:tr>
            </a:tbl>
          </a:graphicData>
        </a:graphic>
      </p:graphicFrame>
      <p:sp>
        <p:nvSpPr>
          <p:cNvPr id="116" name="TextBox 115"/>
          <p:cNvSpPr txBox="1"/>
          <p:nvPr/>
        </p:nvSpPr>
        <p:spPr>
          <a:xfrm>
            <a:off x="5422429" y="4018190"/>
            <a:ext cx="1112805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UNALLOCATE_PHYREG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18" name="자유형 117"/>
          <p:cNvSpPr/>
          <p:nvPr/>
        </p:nvSpPr>
        <p:spPr>
          <a:xfrm>
            <a:off x="7221538" y="2950563"/>
            <a:ext cx="3820992" cy="280464"/>
          </a:xfrm>
          <a:custGeom>
            <a:avLst/>
            <a:gdLst>
              <a:gd name="connsiteX0" fmla="*/ 0 w 3820992"/>
              <a:gd name="connsiteY0" fmla="*/ 0 h 280464"/>
              <a:gd name="connsiteX1" fmla="*/ 3753942 w 3820992"/>
              <a:gd name="connsiteY1" fmla="*/ 0 h 280464"/>
              <a:gd name="connsiteX2" fmla="*/ 3753942 w 3820992"/>
              <a:gd name="connsiteY2" fmla="*/ 74843 h 280464"/>
              <a:gd name="connsiteX3" fmla="*/ 3752841 w 3820992"/>
              <a:gd name="connsiteY3" fmla="*/ 74843 h 280464"/>
              <a:gd name="connsiteX4" fmla="*/ 3752841 w 3820992"/>
              <a:gd name="connsiteY4" fmla="*/ 146582 h 280464"/>
              <a:gd name="connsiteX5" fmla="*/ 3820992 w 3820992"/>
              <a:gd name="connsiteY5" fmla="*/ 146582 h 280464"/>
              <a:gd name="connsiteX6" fmla="*/ 3684689 w 3820992"/>
              <a:gd name="connsiteY6" fmla="*/ 280464 h 280464"/>
              <a:gd name="connsiteX7" fmla="*/ 3548386 w 3820992"/>
              <a:gd name="connsiteY7" fmla="*/ 146582 h 280464"/>
              <a:gd name="connsiteX8" fmla="*/ 3616538 w 3820992"/>
              <a:gd name="connsiteY8" fmla="*/ 146582 h 280464"/>
              <a:gd name="connsiteX9" fmla="*/ 3616538 w 3820992"/>
              <a:gd name="connsiteY9" fmla="*/ 74843 h 280464"/>
              <a:gd name="connsiteX10" fmla="*/ 88900 w 3820992"/>
              <a:gd name="connsiteY10" fmla="*/ 74843 h 280464"/>
              <a:gd name="connsiteX11" fmla="*/ 88900 w 3820992"/>
              <a:gd name="connsiteY11" fmla="*/ 262924 h 280464"/>
              <a:gd name="connsiteX12" fmla="*/ 0 w 3820992"/>
              <a:gd name="connsiteY12" fmla="*/ 262924 h 280464"/>
              <a:gd name="connsiteX13" fmla="*/ 0 w 3820992"/>
              <a:gd name="connsiteY13" fmla="*/ 74843 h 280464"/>
              <a:gd name="connsiteX14" fmla="*/ 0 w 3820992"/>
              <a:gd name="connsiteY14" fmla="*/ 1926 h 28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20992" h="280464">
                <a:moveTo>
                  <a:pt x="0" y="0"/>
                </a:moveTo>
                <a:lnTo>
                  <a:pt x="3753942" y="0"/>
                </a:lnTo>
                <a:lnTo>
                  <a:pt x="3753942" y="74843"/>
                </a:lnTo>
                <a:lnTo>
                  <a:pt x="3752841" y="74843"/>
                </a:lnTo>
                <a:lnTo>
                  <a:pt x="3752841" y="146582"/>
                </a:lnTo>
                <a:lnTo>
                  <a:pt x="3820992" y="146582"/>
                </a:lnTo>
                <a:lnTo>
                  <a:pt x="3684689" y="280464"/>
                </a:lnTo>
                <a:lnTo>
                  <a:pt x="3548386" y="146582"/>
                </a:lnTo>
                <a:lnTo>
                  <a:pt x="3616538" y="146582"/>
                </a:lnTo>
                <a:lnTo>
                  <a:pt x="3616538" y="74843"/>
                </a:lnTo>
                <a:lnTo>
                  <a:pt x="88900" y="74843"/>
                </a:lnTo>
                <a:lnTo>
                  <a:pt x="88900" y="262924"/>
                </a:lnTo>
                <a:lnTo>
                  <a:pt x="0" y="262924"/>
                </a:lnTo>
                <a:lnTo>
                  <a:pt x="0" y="74843"/>
                </a:lnTo>
                <a:lnTo>
                  <a:pt x="0" y="1926"/>
                </a:lnTo>
                <a:close/>
              </a:path>
            </a:pathLst>
          </a:custGeom>
          <a:solidFill>
            <a:srgbClr val="FFE699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4" name="자유형 123"/>
          <p:cNvSpPr/>
          <p:nvPr/>
        </p:nvSpPr>
        <p:spPr>
          <a:xfrm>
            <a:off x="4957763" y="783648"/>
            <a:ext cx="4590185" cy="2447380"/>
          </a:xfrm>
          <a:custGeom>
            <a:avLst/>
            <a:gdLst>
              <a:gd name="connsiteX0" fmla="*/ 0 w 4590185"/>
              <a:gd name="connsiteY0" fmla="*/ 0 h 2447381"/>
              <a:gd name="connsiteX1" fmla="*/ 4524375 w 4590185"/>
              <a:gd name="connsiteY1" fmla="*/ 0 h 2447381"/>
              <a:gd name="connsiteX2" fmla="*/ 4524375 w 4590185"/>
              <a:gd name="connsiteY2" fmla="*/ 120839 h 2447381"/>
              <a:gd name="connsiteX3" fmla="*/ 4522034 w 4590185"/>
              <a:gd name="connsiteY3" fmla="*/ 120839 h 2447381"/>
              <a:gd name="connsiteX4" fmla="*/ 4522034 w 4590185"/>
              <a:gd name="connsiteY4" fmla="*/ 222664 h 2447381"/>
              <a:gd name="connsiteX5" fmla="*/ 4590185 w 4590185"/>
              <a:gd name="connsiteY5" fmla="*/ 222664 h 2447381"/>
              <a:gd name="connsiteX6" fmla="*/ 4453882 w 4590185"/>
              <a:gd name="connsiteY6" fmla="*/ 356546 h 2447381"/>
              <a:gd name="connsiteX7" fmla="*/ 4317579 w 4590185"/>
              <a:gd name="connsiteY7" fmla="*/ 222664 h 2447381"/>
              <a:gd name="connsiteX8" fmla="*/ 4385731 w 4590185"/>
              <a:gd name="connsiteY8" fmla="*/ 222664 h 2447381"/>
              <a:gd name="connsiteX9" fmla="*/ 4385731 w 4590185"/>
              <a:gd name="connsiteY9" fmla="*/ 120839 h 2447381"/>
              <a:gd name="connsiteX10" fmla="*/ 150810 w 4590185"/>
              <a:gd name="connsiteY10" fmla="*/ 120839 h 2447381"/>
              <a:gd name="connsiteX11" fmla="*/ 150810 w 4590185"/>
              <a:gd name="connsiteY11" fmla="*/ 2447381 h 2447381"/>
              <a:gd name="connsiteX12" fmla="*/ 1 w 4590185"/>
              <a:gd name="connsiteY12" fmla="*/ 2447381 h 2447381"/>
              <a:gd name="connsiteX13" fmla="*/ 1 w 4590185"/>
              <a:gd name="connsiteY13" fmla="*/ 120839 h 2447381"/>
              <a:gd name="connsiteX14" fmla="*/ 0 w 4590185"/>
              <a:gd name="connsiteY14" fmla="*/ 120839 h 2447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590185" h="2447381">
                <a:moveTo>
                  <a:pt x="0" y="0"/>
                </a:moveTo>
                <a:lnTo>
                  <a:pt x="4524375" y="0"/>
                </a:lnTo>
                <a:lnTo>
                  <a:pt x="4524375" y="120839"/>
                </a:lnTo>
                <a:lnTo>
                  <a:pt x="4522034" y="120839"/>
                </a:lnTo>
                <a:lnTo>
                  <a:pt x="4522034" y="222664"/>
                </a:lnTo>
                <a:lnTo>
                  <a:pt x="4590185" y="222664"/>
                </a:lnTo>
                <a:lnTo>
                  <a:pt x="4453882" y="356546"/>
                </a:lnTo>
                <a:lnTo>
                  <a:pt x="4317579" y="222664"/>
                </a:lnTo>
                <a:lnTo>
                  <a:pt x="4385731" y="222664"/>
                </a:lnTo>
                <a:lnTo>
                  <a:pt x="4385731" y="120839"/>
                </a:lnTo>
                <a:lnTo>
                  <a:pt x="150810" y="120839"/>
                </a:lnTo>
                <a:lnTo>
                  <a:pt x="150810" y="2447381"/>
                </a:lnTo>
                <a:lnTo>
                  <a:pt x="1" y="2447381"/>
                </a:lnTo>
                <a:lnTo>
                  <a:pt x="1" y="120839"/>
                </a:lnTo>
                <a:lnTo>
                  <a:pt x="0" y="120839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graphicFrame>
        <p:nvGraphicFramePr>
          <p:cNvPr id="120" name="표 119"/>
          <p:cNvGraphicFramePr>
            <a:graphicFrameLocks noGrp="1"/>
          </p:cNvGraphicFramePr>
          <p:nvPr>
            <p:extLst/>
          </p:nvPr>
        </p:nvGraphicFramePr>
        <p:xfrm>
          <a:off x="8639356" y="1844442"/>
          <a:ext cx="1347652" cy="31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20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4889">
                  <a:extLst>
                    <a:ext uri="{9D8B030D-6E8A-4147-A177-3AD203B41FA5}">
                      <a16:colId xmlns:a16="http://schemas.microsoft.com/office/drawing/2014/main" val="3287954847"/>
                    </a:ext>
                  </a:extLst>
                </a:gridCol>
                <a:gridCol w="718343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</a:tblGrid>
              <a:tr h="1985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19996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 Counter</a:t>
                      </a: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Retired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Internal Register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858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Retire PHYREG Information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9987012" y="1924782"/>
            <a:ext cx="99738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DECODE_NEW_INST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cxnSp>
        <p:nvCxnSpPr>
          <p:cNvPr id="123" name="직선 연결선 122"/>
          <p:cNvCxnSpPr/>
          <p:nvPr/>
        </p:nvCxnSpPr>
        <p:spPr>
          <a:xfrm>
            <a:off x="12626390" y="1929546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3189287" y="5368724"/>
            <a:ext cx="7109542" cy="1290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5" tIns="19290" rIns="38575" bIns="1929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endParaRPr lang="en-US" altLang="ko-KR" sz="760" b="1" dirty="0">
              <a:solidFill>
                <a:schemeClr val="tx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(FCL)</a:t>
            </a:r>
            <a:endParaRPr lang="ko-KR" altLang="en-US" sz="760" b="1" dirty="0">
              <a:solidFill>
                <a:schemeClr val="tx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en-US" altLang="ko-KR" sz="760" b="1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Flow Control Logic</a:t>
            </a:r>
            <a:endParaRPr lang="ko-KR" altLang="en-US" sz="760" b="1" dirty="0">
              <a:solidFill>
                <a:schemeClr val="tx1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117" name="표 116"/>
          <p:cNvGraphicFramePr>
            <a:graphicFrameLocks noGrp="1"/>
          </p:cNvGraphicFramePr>
          <p:nvPr>
            <p:extLst/>
          </p:nvPr>
        </p:nvGraphicFramePr>
        <p:xfrm>
          <a:off x="6361299" y="5322372"/>
          <a:ext cx="1347652" cy="305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20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4889">
                  <a:extLst>
                    <a:ext uri="{9D8B030D-6E8A-4147-A177-3AD203B41FA5}">
                      <a16:colId xmlns:a16="http://schemas.microsoft.com/office/drawing/2014/main" val="3287954847"/>
                    </a:ext>
                  </a:extLst>
                </a:gridCol>
                <a:gridCol w="718343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</a:tblGrid>
              <a:tr h="114783">
                <a:tc gridSpan="3">
                  <a:txBody>
                    <a:bodyPr/>
                    <a:lstStyle/>
                    <a:p>
                      <a:pPr marL="0" marR="0" lvl="0" indent="0" algn="ctr" defTabSz="119996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Retire PHYREG Information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19996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421983"/>
                  </a:ext>
                </a:extLst>
              </a:tr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19996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 Counter</a:t>
                      </a:r>
                      <a:endParaRPr lang="ko-KR" altLang="en-US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Retired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Internal Register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119" name="TextBox 118"/>
          <p:cNvSpPr txBox="1"/>
          <p:nvPr/>
        </p:nvSpPr>
        <p:spPr>
          <a:xfrm>
            <a:off x="7672395" y="5375958"/>
            <a:ext cx="997389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DECODE_NEW_INST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cxnSp>
        <p:nvCxnSpPr>
          <p:cNvPr id="121" name="직선 연결선 120"/>
          <p:cNvCxnSpPr/>
          <p:nvPr/>
        </p:nvCxnSpPr>
        <p:spPr>
          <a:xfrm>
            <a:off x="6248966" y="5211767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" name="표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448815"/>
              </p:ext>
            </p:extLst>
          </p:nvPr>
        </p:nvGraphicFramePr>
        <p:xfrm>
          <a:off x="4304035" y="5299874"/>
          <a:ext cx="862566" cy="30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566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19996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 Register </a:t>
                      </a:r>
                      <a:r>
                        <a:rPr kumimoji="0" lang="en-US" altLang="ko-KR" sz="5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Unallocate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18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Retired </a:t>
                      </a: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Internal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Register Number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126" name="TextBox 125"/>
          <p:cNvSpPr txBox="1"/>
          <p:nvPr/>
        </p:nvSpPr>
        <p:spPr>
          <a:xfrm>
            <a:off x="5130329" y="5371667"/>
            <a:ext cx="1112805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UNALLOCATE_PHYREG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27" name="아래쪽 화살표 126"/>
          <p:cNvSpPr/>
          <p:nvPr/>
        </p:nvSpPr>
        <p:spPr>
          <a:xfrm rot="10800000">
            <a:off x="4630692" y="4297510"/>
            <a:ext cx="272606" cy="956918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128" name="TextBox 127"/>
          <p:cNvSpPr txBox="1"/>
          <p:nvPr/>
        </p:nvSpPr>
        <p:spPr>
          <a:xfrm>
            <a:off x="4793099" y="5033789"/>
            <a:ext cx="1242648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</a:t>
            </a:r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Valid Indicator</a:t>
            </a:r>
            <a:endParaRPr lang="en-US" altLang="ko-KR" sz="619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129" name="표 128"/>
          <p:cNvGraphicFramePr>
            <a:graphicFrameLocks noGrp="1"/>
          </p:cNvGraphicFramePr>
          <p:nvPr>
            <p:extLst/>
          </p:nvPr>
        </p:nvGraphicFramePr>
        <p:xfrm>
          <a:off x="5862028" y="6267823"/>
          <a:ext cx="2682355" cy="455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555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1708800">
                  <a:extLst>
                    <a:ext uri="{9D8B030D-6E8A-4147-A177-3AD203B41FA5}">
                      <a16:colId xmlns:a16="http://schemas.microsoft.com/office/drawing/2014/main" val="987413554"/>
                    </a:ext>
                  </a:extLst>
                </a:gridCol>
              </a:tblGrid>
              <a:tr h="340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New Program Counter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with Branch active</a:t>
                      </a:r>
                      <a:endParaRPr kumimoji="0" lang="ko-KR" altLang="en-US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478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Execution Unit </a:t>
                      </a: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Results (Parts of PC and Branch Result)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graphicFrame>
        <p:nvGraphicFramePr>
          <p:cNvPr id="130" name="표 129"/>
          <p:cNvGraphicFramePr>
            <a:graphicFrameLocks noGrp="1"/>
          </p:cNvGraphicFramePr>
          <p:nvPr/>
        </p:nvGraphicFramePr>
        <p:xfrm>
          <a:off x="6912505" y="6335446"/>
          <a:ext cx="613260" cy="190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3">
                  <a:extLst>
                    <a:ext uri="{9D8B030D-6E8A-4147-A177-3AD203B41FA5}">
                      <a16:colId xmlns:a16="http://schemas.microsoft.com/office/drawing/2014/main" val="1433128000"/>
                    </a:ext>
                  </a:extLst>
                </a:gridCol>
                <a:gridCol w="351967">
                  <a:extLst>
                    <a:ext uri="{9D8B030D-6E8A-4147-A177-3AD203B41FA5}">
                      <a16:colId xmlns:a16="http://schemas.microsoft.com/office/drawing/2014/main" val="387647703"/>
                    </a:ext>
                  </a:extLst>
                </a:gridCol>
              </a:tblGrid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533073"/>
                  </a:ext>
                </a:extLst>
              </a:tr>
            </a:tbl>
          </a:graphicData>
        </a:graphic>
      </p:graphicFrame>
      <p:sp>
        <p:nvSpPr>
          <p:cNvPr id="132" name="TextBox 131"/>
          <p:cNvSpPr txBox="1"/>
          <p:nvPr/>
        </p:nvSpPr>
        <p:spPr>
          <a:xfrm>
            <a:off x="7476439" y="6333889"/>
            <a:ext cx="1048685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19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✗ </a:t>
            </a:r>
            <a:r>
              <a:rPr lang="en-US" altLang="ko-KR" sz="619" u="sng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EX_OUT_RESULT_ALL</a:t>
            </a:r>
            <a:endParaRPr lang="ko-KR" altLang="en-US" sz="619" u="sng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cxnSp>
        <p:nvCxnSpPr>
          <p:cNvPr id="134" name="직선 연결선 133"/>
          <p:cNvCxnSpPr/>
          <p:nvPr/>
        </p:nvCxnSpPr>
        <p:spPr>
          <a:xfrm>
            <a:off x="10998096" y="1929546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/>
          <p:cNvCxnSpPr/>
          <p:nvPr/>
        </p:nvCxnSpPr>
        <p:spPr>
          <a:xfrm>
            <a:off x="8687804" y="5211767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6" name="표 135"/>
          <p:cNvGraphicFramePr>
            <a:graphicFrameLocks noGrp="1"/>
          </p:cNvGraphicFramePr>
          <p:nvPr>
            <p:extLst/>
          </p:nvPr>
        </p:nvGraphicFramePr>
        <p:xfrm>
          <a:off x="11127784" y="1844442"/>
          <a:ext cx="1347652" cy="31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20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4889">
                  <a:extLst>
                    <a:ext uri="{9D8B030D-6E8A-4147-A177-3AD203B41FA5}">
                      <a16:colId xmlns:a16="http://schemas.microsoft.com/office/drawing/2014/main" val="3287954847"/>
                    </a:ext>
                  </a:extLst>
                </a:gridCol>
                <a:gridCol w="718343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</a:tblGrid>
              <a:tr h="1985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Jump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Active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19996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Branch</a:t>
                      </a:r>
                      <a:r>
                        <a:rPr lang="ko-KR" altLang="en-US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Active</a:t>
                      </a:r>
                      <a:endParaRPr lang="en-US" altLang="ko-KR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Jump/Branch</a:t>
                      </a:r>
                      <a:r>
                        <a:rPr lang="ko-KR" altLang="en-US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/>
                      </a:r>
                      <a:b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</a:b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 Counter</a:t>
                      </a:r>
                      <a:endParaRPr lang="en-US" altLang="ko-KR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  <a:tr h="11858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Jump/Branch Information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41944"/>
                  </a:ext>
                </a:extLst>
              </a:tr>
            </a:tbl>
          </a:graphicData>
        </a:graphic>
      </p:graphicFrame>
      <p:graphicFrame>
        <p:nvGraphicFramePr>
          <p:cNvPr id="138" name="표 137"/>
          <p:cNvGraphicFramePr>
            <a:graphicFrameLocks noGrp="1"/>
          </p:cNvGraphicFramePr>
          <p:nvPr/>
        </p:nvGraphicFramePr>
        <p:xfrm>
          <a:off x="3127682" y="5299879"/>
          <a:ext cx="806835" cy="305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770">
                  <a:extLst>
                    <a:ext uri="{9D8B030D-6E8A-4147-A177-3AD203B41FA5}">
                      <a16:colId xmlns:a16="http://schemas.microsoft.com/office/drawing/2014/main" val="1433128000"/>
                    </a:ext>
                  </a:extLst>
                </a:gridCol>
                <a:gridCol w="463065">
                  <a:extLst>
                    <a:ext uri="{9D8B030D-6E8A-4147-A177-3AD203B41FA5}">
                      <a16:colId xmlns:a16="http://schemas.microsoft.com/office/drawing/2014/main" val="387647703"/>
                    </a:ext>
                  </a:extLst>
                </a:gridCol>
              </a:tblGrid>
              <a:tr h="11478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New Program Counter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507844"/>
                  </a:ext>
                </a:extLst>
              </a:tr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Flow</a:t>
                      </a:r>
                      <a:endParaRPr lang="en-US" altLang="ko-KR" sz="500" b="0" baseline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  <a:p>
                      <a:pPr algn="ctr" latinLnBrk="1"/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Index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</a:t>
                      </a:r>
                    </a:p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533073"/>
                  </a:ext>
                </a:extLst>
              </a:tr>
            </a:tbl>
          </a:graphicData>
        </a:graphic>
      </p:graphicFrame>
      <p:cxnSp>
        <p:nvCxnSpPr>
          <p:cNvPr id="139" name="직선 연결선 138"/>
          <p:cNvCxnSpPr/>
          <p:nvPr/>
        </p:nvCxnSpPr>
        <p:spPr>
          <a:xfrm>
            <a:off x="4129799" y="5211767"/>
            <a:ext cx="0" cy="3283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5" name="표 144"/>
          <p:cNvGraphicFramePr>
            <a:graphicFrameLocks noGrp="1"/>
          </p:cNvGraphicFramePr>
          <p:nvPr>
            <p:extLst/>
          </p:nvPr>
        </p:nvGraphicFramePr>
        <p:xfrm>
          <a:off x="8823502" y="5299881"/>
          <a:ext cx="1347652" cy="305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420">
                  <a:extLst>
                    <a:ext uri="{9D8B030D-6E8A-4147-A177-3AD203B41FA5}">
                      <a16:colId xmlns:a16="http://schemas.microsoft.com/office/drawing/2014/main" val="1047438599"/>
                    </a:ext>
                  </a:extLst>
                </a:gridCol>
                <a:gridCol w="354889">
                  <a:extLst>
                    <a:ext uri="{9D8B030D-6E8A-4147-A177-3AD203B41FA5}">
                      <a16:colId xmlns:a16="http://schemas.microsoft.com/office/drawing/2014/main" val="3287954847"/>
                    </a:ext>
                  </a:extLst>
                </a:gridCol>
                <a:gridCol w="718343">
                  <a:extLst>
                    <a:ext uri="{9D8B030D-6E8A-4147-A177-3AD203B41FA5}">
                      <a16:colId xmlns:a16="http://schemas.microsoft.com/office/drawing/2014/main" val="2703885482"/>
                    </a:ext>
                  </a:extLst>
                </a:gridCol>
              </a:tblGrid>
              <a:tr h="114783">
                <a:tc gridSpan="3">
                  <a:txBody>
                    <a:bodyPr/>
                    <a:lstStyle/>
                    <a:p>
                      <a:pPr marL="0" marR="0" lvl="0" indent="0" algn="ctr" defTabSz="119996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Jump/Branch Information</a:t>
                      </a:r>
                      <a:endParaRPr kumimoji="0" lang="ko-KR" altLang="en-US" sz="5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19996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6" marR="38576" marT="19289" marB="192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470216"/>
                  </a:ext>
                </a:extLst>
              </a:tr>
              <a:tr h="190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Jump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Active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19996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Branch</a:t>
                      </a:r>
                      <a:r>
                        <a:rPr lang="ko-KR" altLang="en-US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Active</a:t>
                      </a:r>
                      <a:endParaRPr lang="en-US" altLang="ko-KR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Jump/Branch</a:t>
                      </a:r>
                      <a:r>
                        <a:rPr lang="ko-KR" altLang="en-US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/>
                      </a:r>
                      <a:b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</a:br>
                      <a:r>
                        <a:rPr lang="en-US" altLang="ko-KR" sz="500" b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 Counter</a:t>
                      </a:r>
                      <a:endParaRPr lang="en-US" altLang="ko-KR" sz="500" b="0" dirty="0" smtClean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879108"/>
                  </a:ext>
                </a:extLst>
              </a:tr>
            </a:tbl>
          </a:graphicData>
        </a:graphic>
      </p:graphicFrame>
      <p:sp>
        <p:nvSpPr>
          <p:cNvPr id="149" name="TextBox 148"/>
          <p:cNvSpPr txBox="1"/>
          <p:nvPr/>
        </p:nvSpPr>
        <p:spPr>
          <a:xfrm>
            <a:off x="9178876" y="2213237"/>
            <a:ext cx="1242648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</a:t>
            </a:r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Valid Indicator</a:t>
            </a:r>
            <a:endParaRPr lang="en-US" altLang="ko-KR" sz="619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aphicFrame>
        <p:nvGraphicFramePr>
          <p:cNvPr id="153" name="표 152"/>
          <p:cNvGraphicFramePr>
            <a:graphicFrameLocks noGrp="1"/>
          </p:cNvGraphicFramePr>
          <p:nvPr/>
        </p:nvGraphicFramePr>
        <p:xfrm>
          <a:off x="12130982" y="100454"/>
          <a:ext cx="806836" cy="229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836">
                  <a:extLst>
                    <a:ext uri="{9D8B030D-6E8A-4147-A177-3AD203B41FA5}">
                      <a16:colId xmlns:a16="http://schemas.microsoft.com/office/drawing/2014/main" val="1433128000"/>
                    </a:ext>
                  </a:extLst>
                </a:gridCol>
              </a:tblGrid>
              <a:tr h="114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New Program Counter</a:t>
                      </a:r>
                      <a:endParaRPr lang="ko-KR" altLang="en-US" sz="500" b="1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507844"/>
                  </a:ext>
                </a:extLst>
              </a:tr>
              <a:tr h="114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ProgramCounter</a:t>
                      </a:r>
                      <a:endParaRPr lang="ko-KR" altLang="en-US" sz="5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38575" marR="38575" marT="19290" marB="19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533073"/>
                  </a:ext>
                </a:extLst>
              </a:tr>
            </a:tbl>
          </a:graphicData>
        </a:graphic>
      </p:graphicFrame>
      <p:sp>
        <p:nvSpPr>
          <p:cNvPr id="158" name="자유형 157"/>
          <p:cNvSpPr/>
          <p:nvPr/>
        </p:nvSpPr>
        <p:spPr>
          <a:xfrm>
            <a:off x="1797836" y="451414"/>
            <a:ext cx="9794568" cy="7176316"/>
          </a:xfrm>
          <a:custGeom>
            <a:avLst/>
            <a:gdLst>
              <a:gd name="connsiteX0" fmla="*/ 0 w 9794568"/>
              <a:gd name="connsiteY0" fmla="*/ 0 h 7176316"/>
              <a:gd name="connsiteX1" fmla="*/ 9590114 w 9794568"/>
              <a:gd name="connsiteY1" fmla="*/ 0 h 7176316"/>
              <a:gd name="connsiteX2" fmla="*/ 9706777 w 9794568"/>
              <a:gd name="connsiteY2" fmla="*/ 0 h 7176316"/>
              <a:gd name="connsiteX3" fmla="*/ 9726417 w 9794568"/>
              <a:gd name="connsiteY3" fmla="*/ 0 h 7176316"/>
              <a:gd name="connsiteX4" fmla="*/ 9726417 w 9794568"/>
              <a:gd name="connsiteY4" fmla="*/ 563050 h 7176316"/>
              <a:gd name="connsiteX5" fmla="*/ 9794568 w 9794568"/>
              <a:gd name="connsiteY5" fmla="*/ 563050 h 7176316"/>
              <a:gd name="connsiteX6" fmla="*/ 9658265 w 9794568"/>
              <a:gd name="connsiteY6" fmla="*/ 699353 h 7176316"/>
              <a:gd name="connsiteX7" fmla="*/ 9521962 w 9794568"/>
              <a:gd name="connsiteY7" fmla="*/ 563050 h 7176316"/>
              <a:gd name="connsiteX8" fmla="*/ 9590114 w 9794568"/>
              <a:gd name="connsiteY8" fmla="*/ 563050 h 7176316"/>
              <a:gd name="connsiteX9" fmla="*/ 9590114 w 9794568"/>
              <a:gd name="connsiteY9" fmla="*/ 127586 h 7176316"/>
              <a:gd name="connsiteX10" fmla="*/ 144465 w 9794568"/>
              <a:gd name="connsiteY10" fmla="*/ 127586 h 7176316"/>
              <a:gd name="connsiteX11" fmla="*/ 144465 w 9794568"/>
              <a:gd name="connsiteY11" fmla="*/ 3634917 h 7176316"/>
              <a:gd name="connsiteX12" fmla="*/ 375245 w 9794568"/>
              <a:gd name="connsiteY12" fmla="*/ 3634917 h 7176316"/>
              <a:gd name="connsiteX13" fmla="*/ 375245 w 9794568"/>
              <a:gd name="connsiteY13" fmla="*/ 3566766 h 7176316"/>
              <a:gd name="connsiteX14" fmla="*/ 511548 w 9794568"/>
              <a:gd name="connsiteY14" fmla="*/ 3703069 h 7176316"/>
              <a:gd name="connsiteX15" fmla="*/ 375245 w 9794568"/>
              <a:gd name="connsiteY15" fmla="*/ 3839372 h 7176316"/>
              <a:gd name="connsiteX16" fmla="*/ 375245 w 9794568"/>
              <a:gd name="connsiteY16" fmla="*/ 3771220 h 7176316"/>
              <a:gd name="connsiteX17" fmla="*/ 144465 w 9794568"/>
              <a:gd name="connsiteY17" fmla="*/ 3771220 h 7176316"/>
              <a:gd name="connsiteX18" fmla="*/ 144465 w 9794568"/>
              <a:gd name="connsiteY18" fmla="*/ 7048730 h 7176316"/>
              <a:gd name="connsiteX19" fmla="*/ 5347644 w 9794568"/>
              <a:gd name="connsiteY19" fmla="*/ 7048730 h 7176316"/>
              <a:gd name="connsiteX20" fmla="*/ 5347644 w 9794568"/>
              <a:gd name="connsiteY20" fmla="*/ 6451420 h 7176316"/>
              <a:gd name="connsiteX21" fmla="*/ 5279493 w 9794568"/>
              <a:gd name="connsiteY21" fmla="*/ 6451420 h 7176316"/>
              <a:gd name="connsiteX22" fmla="*/ 5415796 w 9794568"/>
              <a:gd name="connsiteY22" fmla="*/ 6315117 h 7176316"/>
              <a:gd name="connsiteX23" fmla="*/ 5552099 w 9794568"/>
              <a:gd name="connsiteY23" fmla="*/ 6451420 h 7176316"/>
              <a:gd name="connsiteX24" fmla="*/ 5483947 w 9794568"/>
              <a:gd name="connsiteY24" fmla="*/ 6451420 h 7176316"/>
              <a:gd name="connsiteX25" fmla="*/ 5483947 w 9794568"/>
              <a:gd name="connsiteY25" fmla="*/ 7048730 h 7176316"/>
              <a:gd name="connsiteX26" fmla="*/ 8350133 w 9794568"/>
              <a:gd name="connsiteY26" fmla="*/ 7048730 h 7176316"/>
              <a:gd name="connsiteX27" fmla="*/ 8350133 w 9794568"/>
              <a:gd name="connsiteY27" fmla="*/ 7176316 h 7176316"/>
              <a:gd name="connsiteX28" fmla="*/ 144465 w 9794568"/>
              <a:gd name="connsiteY28" fmla="*/ 7176316 h 7176316"/>
              <a:gd name="connsiteX29" fmla="*/ 3 w 9794568"/>
              <a:gd name="connsiteY29" fmla="*/ 7176316 h 7176316"/>
              <a:gd name="connsiteX30" fmla="*/ 0 w 9794568"/>
              <a:gd name="connsiteY30" fmla="*/ 7176316 h 7176316"/>
              <a:gd name="connsiteX31" fmla="*/ 0 w 9794568"/>
              <a:gd name="connsiteY31" fmla="*/ 7048730 h 7176316"/>
              <a:gd name="connsiteX32" fmla="*/ 3 w 9794568"/>
              <a:gd name="connsiteY32" fmla="*/ 7048730 h 7176316"/>
              <a:gd name="connsiteX33" fmla="*/ 3 w 9794568"/>
              <a:gd name="connsiteY33" fmla="*/ 127586 h 7176316"/>
              <a:gd name="connsiteX34" fmla="*/ 0 w 9794568"/>
              <a:gd name="connsiteY34" fmla="*/ 127586 h 717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794568" h="7176316">
                <a:moveTo>
                  <a:pt x="0" y="0"/>
                </a:moveTo>
                <a:lnTo>
                  <a:pt x="9590114" y="0"/>
                </a:lnTo>
                <a:lnTo>
                  <a:pt x="9706777" y="0"/>
                </a:lnTo>
                <a:lnTo>
                  <a:pt x="9726417" y="0"/>
                </a:lnTo>
                <a:lnTo>
                  <a:pt x="9726417" y="563050"/>
                </a:lnTo>
                <a:lnTo>
                  <a:pt x="9794568" y="563050"/>
                </a:lnTo>
                <a:lnTo>
                  <a:pt x="9658265" y="699353"/>
                </a:lnTo>
                <a:lnTo>
                  <a:pt x="9521962" y="563050"/>
                </a:lnTo>
                <a:lnTo>
                  <a:pt x="9590114" y="563050"/>
                </a:lnTo>
                <a:lnTo>
                  <a:pt x="9590114" y="127586"/>
                </a:lnTo>
                <a:lnTo>
                  <a:pt x="144465" y="127586"/>
                </a:lnTo>
                <a:lnTo>
                  <a:pt x="144465" y="3634917"/>
                </a:lnTo>
                <a:lnTo>
                  <a:pt x="375245" y="3634917"/>
                </a:lnTo>
                <a:lnTo>
                  <a:pt x="375245" y="3566766"/>
                </a:lnTo>
                <a:lnTo>
                  <a:pt x="511548" y="3703069"/>
                </a:lnTo>
                <a:lnTo>
                  <a:pt x="375245" y="3839372"/>
                </a:lnTo>
                <a:lnTo>
                  <a:pt x="375245" y="3771220"/>
                </a:lnTo>
                <a:lnTo>
                  <a:pt x="144465" y="3771220"/>
                </a:lnTo>
                <a:lnTo>
                  <a:pt x="144465" y="7048730"/>
                </a:lnTo>
                <a:lnTo>
                  <a:pt x="5347644" y="7048730"/>
                </a:lnTo>
                <a:lnTo>
                  <a:pt x="5347644" y="6451420"/>
                </a:lnTo>
                <a:lnTo>
                  <a:pt x="5279493" y="6451420"/>
                </a:lnTo>
                <a:lnTo>
                  <a:pt x="5415796" y="6315117"/>
                </a:lnTo>
                <a:lnTo>
                  <a:pt x="5552099" y="6451420"/>
                </a:lnTo>
                <a:lnTo>
                  <a:pt x="5483947" y="6451420"/>
                </a:lnTo>
                <a:lnTo>
                  <a:pt x="5483947" y="7048730"/>
                </a:lnTo>
                <a:lnTo>
                  <a:pt x="8350133" y="7048730"/>
                </a:lnTo>
                <a:lnTo>
                  <a:pt x="8350133" y="7176316"/>
                </a:lnTo>
                <a:lnTo>
                  <a:pt x="144465" y="7176316"/>
                </a:lnTo>
                <a:lnTo>
                  <a:pt x="3" y="7176316"/>
                </a:lnTo>
                <a:lnTo>
                  <a:pt x="0" y="7176316"/>
                </a:lnTo>
                <a:lnTo>
                  <a:pt x="0" y="7048730"/>
                </a:lnTo>
                <a:lnTo>
                  <a:pt x="3" y="7048730"/>
                </a:lnTo>
                <a:lnTo>
                  <a:pt x="3" y="127586"/>
                </a:lnTo>
                <a:lnTo>
                  <a:pt x="0" y="127586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  <p:sp>
        <p:nvSpPr>
          <p:cNvPr id="159" name="TextBox 158"/>
          <p:cNvSpPr txBox="1"/>
          <p:nvPr/>
        </p:nvSpPr>
        <p:spPr>
          <a:xfrm>
            <a:off x="8928505" y="7298313"/>
            <a:ext cx="1242648" cy="1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Transaction by </a:t>
            </a:r>
            <a:r>
              <a:rPr lang="en-US" altLang="ko-KR" sz="619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Valid Indicator</a:t>
            </a:r>
            <a:endParaRPr lang="en-US" altLang="ko-KR" sz="619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1" name="자유형 160"/>
          <p:cNvSpPr/>
          <p:nvPr/>
        </p:nvSpPr>
        <p:spPr>
          <a:xfrm rot="16200000">
            <a:off x="3885937" y="-2669697"/>
            <a:ext cx="5468832" cy="10875333"/>
          </a:xfrm>
          <a:custGeom>
            <a:avLst/>
            <a:gdLst>
              <a:gd name="connsiteX0" fmla="*/ 5468832 w 5468832"/>
              <a:gd name="connsiteY0" fmla="*/ 10739030 h 10875333"/>
              <a:gd name="connsiteX1" fmla="*/ 5332529 w 5468832"/>
              <a:gd name="connsiteY1" fmla="*/ 10875333 h 10875333"/>
              <a:gd name="connsiteX2" fmla="*/ 5196226 w 5468832"/>
              <a:gd name="connsiteY2" fmla="*/ 10739030 h 10875333"/>
              <a:gd name="connsiteX3" fmla="*/ 5264378 w 5468832"/>
              <a:gd name="connsiteY3" fmla="*/ 10739030 h 10875333"/>
              <a:gd name="connsiteX4" fmla="*/ 5264378 w 5468832"/>
              <a:gd name="connsiteY4" fmla="*/ 120650 h 10875333"/>
              <a:gd name="connsiteX5" fmla="*/ 119832 w 5468832"/>
              <a:gd name="connsiteY5" fmla="*/ 120650 h 10875333"/>
              <a:gd name="connsiteX6" fmla="*/ 119832 w 5468832"/>
              <a:gd name="connsiteY6" fmla="*/ 1822450 h 10875333"/>
              <a:gd name="connsiteX7" fmla="*/ 0 w 5468832"/>
              <a:gd name="connsiteY7" fmla="*/ 1822450 h 10875333"/>
              <a:gd name="connsiteX8" fmla="*/ 0 w 5468832"/>
              <a:gd name="connsiteY8" fmla="*/ 0 h 10875333"/>
              <a:gd name="connsiteX9" fmla="*/ 119832 w 5468832"/>
              <a:gd name="connsiteY9" fmla="*/ 0 h 10875333"/>
              <a:gd name="connsiteX10" fmla="*/ 119832 w 5468832"/>
              <a:gd name="connsiteY10" fmla="*/ 0 h 10875333"/>
              <a:gd name="connsiteX11" fmla="*/ 5388795 w 5468832"/>
              <a:gd name="connsiteY11" fmla="*/ 0 h 10875333"/>
              <a:gd name="connsiteX12" fmla="*/ 5388795 w 5468832"/>
              <a:gd name="connsiteY12" fmla="*/ 1 h 10875333"/>
              <a:gd name="connsiteX13" fmla="*/ 5400681 w 5468832"/>
              <a:gd name="connsiteY13" fmla="*/ 1 h 10875333"/>
              <a:gd name="connsiteX14" fmla="*/ 5400681 w 5468832"/>
              <a:gd name="connsiteY14" fmla="*/ 10739030 h 1087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68832" h="10875333">
                <a:moveTo>
                  <a:pt x="5468832" y="10739030"/>
                </a:moveTo>
                <a:lnTo>
                  <a:pt x="5332529" y="10875333"/>
                </a:lnTo>
                <a:lnTo>
                  <a:pt x="5196226" y="10739030"/>
                </a:lnTo>
                <a:lnTo>
                  <a:pt x="5264378" y="10739030"/>
                </a:lnTo>
                <a:lnTo>
                  <a:pt x="5264378" y="120650"/>
                </a:lnTo>
                <a:lnTo>
                  <a:pt x="119832" y="120650"/>
                </a:lnTo>
                <a:lnTo>
                  <a:pt x="119832" y="1822450"/>
                </a:lnTo>
                <a:lnTo>
                  <a:pt x="0" y="1822450"/>
                </a:lnTo>
                <a:lnTo>
                  <a:pt x="0" y="0"/>
                </a:lnTo>
                <a:lnTo>
                  <a:pt x="119832" y="0"/>
                </a:lnTo>
                <a:lnTo>
                  <a:pt x="119832" y="0"/>
                </a:lnTo>
                <a:lnTo>
                  <a:pt x="5388795" y="0"/>
                </a:lnTo>
                <a:lnTo>
                  <a:pt x="5388795" y="1"/>
                </a:lnTo>
                <a:lnTo>
                  <a:pt x="5400681" y="1"/>
                </a:lnTo>
                <a:lnTo>
                  <a:pt x="5400681" y="1073903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7" rIns="51435" bIns="2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13"/>
          </a:p>
        </p:txBody>
      </p:sp>
    </p:spTree>
    <p:extLst>
      <p:ext uri="{BB962C8B-B14F-4D97-AF65-F5344CB8AC3E}">
        <p14:creationId xmlns:p14="http://schemas.microsoft.com/office/powerpoint/2010/main" val="423153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410</TotalTime>
  <Words>617</Words>
  <Application>Microsoft Office PowerPoint</Application>
  <PresentationFormat>사용자 지정</PresentationFormat>
  <Paragraphs>266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 Variable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224</cp:revision>
  <dcterms:created xsi:type="dcterms:W3CDTF">2026-06-09T00:18:10Z</dcterms:created>
  <dcterms:modified xsi:type="dcterms:W3CDTF">2026-06-09T07:10:34Z</dcterms:modified>
</cp:coreProperties>
</file>