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28898850" cy="16256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FBE5D6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6" autoAdjust="0"/>
    <p:restoredTop sz="97384" autoAdjust="0"/>
  </p:normalViewPr>
  <p:slideViewPr>
    <p:cSldViewPr snapToGrid="0">
      <p:cViewPr>
        <p:scale>
          <a:sx n="66" d="100"/>
          <a:sy n="66" d="100"/>
        </p:scale>
        <p:origin x="690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2356" y="2660416"/>
            <a:ext cx="21674138" cy="5659496"/>
          </a:xfrm>
        </p:spPr>
        <p:txBody>
          <a:bodyPr anchor="b"/>
          <a:lstStyle>
            <a:lvl1pPr algn="ctr">
              <a:defRPr sz="142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2356" y="8538164"/>
            <a:ext cx="21674138" cy="3924769"/>
          </a:xfrm>
        </p:spPr>
        <p:txBody>
          <a:bodyPr/>
          <a:lstStyle>
            <a:lvl1pPr marL="0" indent="0" algn="ctr">
              <a:buNone/>
              <a:defRPr sz="5689"/>
            </a:lvl1pPr>
            <a:lvl2pPr marL="1083701" indent="0" algn="ctr">
              <a:buNone/>
              <a:defRPr sz="4741"/>
            </a:lvl2pPr>
            <a:lvl3pPr marL="2167402" indent="0" algn="ctr">
              <a:buNone/>
              <a:defRPr sz="4267"/>
            </a:lvl3pPr>
            <a:lvl4pPr marL="3251103" indent="0" algn="ctr">
              <a:buNone/>
              <a:defRPr sz="3792"/>
            </a:lvl4pPr>
            <a:lvl5pPr marL="4334805" indent="0" algn="ctr">
              <a:buNone/>
              <a:defRPr sz="3792"/>
            </a:lvl5pPr>
            <a:lvl6pPr marL="5418506" indent="0" algn="ctr">
              <a:buNone/>
              <a:defRPr sz="3792"/>
            </a:lvl6pPr>
            <a:lvl7pPr marL="6502207" indent="0" algn="ctr">
              <a:buNone/>
              <a:defRPr sz="3792"/>
            </a:lvl7pPr>
            <a:lvl8pPr marL="7585908" indent="0" algn="ctr">
              <a:buNone/>
              <a:defRPr sz="3792"/>
            </a:lvl8pPr>
            <a:lvl9pPr marL="8669609" indent="0" algn="ctr">
              <a:buNone/>
              <a:defRPr sz="379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36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39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745" y="4052714"/>
            <a:ext cx="24925258" cy="6762043"/>
          </a:xfrm>
        </p:spPr>
        <p:txBody>
          <a:bodyPr anchor="b"/>
          <a:lstStyle>
            <a:lvl1pPr>
              <a:defRPr sz="142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1745" y="10878728"/>
            <a:ext cx="24925258" cy="3555999"/>
          </a:xfrm>
        </p:spPr>
        <p:txBody>
          <a:bodyPr/>
          <a:lstStyle>
            <a:lvl1pPr marL="0" indent="0">
              <a:buNone/>
              <a:defRPr sz="5689">
                <a:solidFill>
                  <a:schemeClr val="tx1">
                    <a:tint val="75000"/>
                  </a:schemeClr>
                </a:solidFill>
              </a:defRPr>
            </a:lvl1pPr>
            <a:lvl2pPr marL="1083701" indent="0">
              <a:buNone/>
              <a:defRPr sz="4741">
                <a:solidFill>
                  <a:schemeClr val="tx1">
                    <a:tint val="75000"/>
                  </a:schemeClr>
                </a:solidFill>
              </a:defRPr>
            </a:lvl2pPr>
            <a:lvl3pPr marL="216740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3pPr>
            <a:lvl4pPr marL="3251103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4pPr>
            <a:lvl5pPr marL="4334805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5pPr>
            <a:lvl6pPr marL="5418506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6pPr>
            <a:lvl7pPr marL="6502207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7pPr>
            <a:lvl8pPr marL="7585908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8pPr>
            <a:lvl9pPr marL="8669609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83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6796" y="4327407"/>
            <a:ext cx="12282011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30043" y="4327407"/>
            <a:ext cx="12282011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29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560" y="865483"/>
            <a:ext cx="24925258" cy="31420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561" y="3984979"/>
            <a:ext cx="12225567" cy="1952977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90561" y="5937956"/>
            <a:ext cx="12225567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630043" y="3984979"/>
            <a:ext cx="12285775" cy="1952977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630043" y="5937956"/>
            <a:ext cx="12285775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62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24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745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561" y="1083733"/>
            <a:ext cx="9320631" cy="3793067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5775" y="2340564"/>
            <a:ext cx="14630043" cy="11552296"/>
          </a:xfrm>
        </p:spPr>
        <p:txBody>
          <a:bodyPr/>
          <a:lstStyle>
            <a:lvl1pPr>
              <a:defRPr sz="7585"/>
            </a:lvl1pPr>
            <a:lvl2pPr>
              <a:defRPr sz="6637"/>
            </a:lvl2pPr>
            <a:lvl3pPr>
              <a:defRPr sz="5689"/>
            </a:lvl3pPr>
            <a:lvl4pPr>
              <a:defRPr sz="4741"/>
            </a:lvl4pPr>
            <a:lvl5pPr>
              <a:defRPr sz="4741"/>
            </a:lvl5pPr>
            <a:lvl6pPr>
              <a:defRPr sz="4741"/>
            </a:lvl6pPr>
            <a:lvl7pPr>
              <a:defRPr sz="4741"/>
            </a:lvl7pPr>
            <a:lvl8pPr>
              <a:defRPr sz="4741"/>
            </a:lvl8pPr>
            <a:lvl9pPr>
              <a:defRPr sz="474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561" y="4876800"/>
            <a:ext cx="9320631" cy="9034875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80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561" y="1083733"/>
            <a:ext cx="9320631" cy="3793067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85775" y="2340564"/>
            <a:ext cx="14630043" cy="11552296"/>
          </a:xfrm>
        </p:spPr>
        <p:txBody>
          <a:bodyPr anchor="t"/>
          <a:lstStyle>
            <a:lvl1pPr marL="0" indent="0">
              <a:buNone/>
              <a:defRPr sz="7585"/>
            </a:lvl1pPr>
            <a:lvl2pPr marL="1083701" indent="0">
              <a:buNone/>
              <a:defRPr sz="6637"/>
            </a:lvl2pPr>
            <a:lvl3pPr marL="2167402" indent="0">
              <a:buNone/>
              <a:defRPr sz="5689"/>
            </a:lvl3pPr>
            <a:lvl4pPr marL="3251103" indent="0">
              <a:buNone/>
              <a:defRPr sz="4741"/>
            </a:lvl4pPr>
            <a:lvl5pPr marL="4334805" indent="0">
              <a:buNone/>
              <a:defRPr sz="4741"/>
            </a:lvl5pPr>
            <a:lvl6pPr marL="5418506" indent="0">
              <a:buNone/>
              <a:defRPr sz="4741"/>
            </a:lvl6pPr>
            <a:lvl7pPr marL="6502207" indent="0">
              <a:buNone/>
              <a:defRPr sz="4741"/>
            </a:lvl7pPr>
            <a:lvl8pPr marL="7585908" indent="0">
              <a:buNone/>
              <a:defRPr sz="4741"/>
            </a:lvl8pPr>
            <a:lvl9pPr marL="8669609" indent="0">
              <a:buNone/>
              <a:defRPr sz="474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561" y="4876800"/>
            <a:ext cx="9320631" cy="9034875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00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747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80739" y="865481"/>
            <a:ext cx="6231315" cy="137762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6796" y="865481"/>
            <a:ext cx="18332708" cy="137762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1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6796" y="865483"/>
            <a:ext cx="24925258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796" y="4327407"/>
            <a:ext cx="24925258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6796" y="15066905"/>
            <a:ext cx="6502241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1AA2F-FC71-4471-BD17-9646155D06A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72744" y="15066905"/>
            <a:ext cx="9753362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409813" y="15066905"/>
            <a:ext cx="6502241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13D1-FA0B-4F97-A072-E015CF128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24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167402" rtl="0" eaLnBrk="1" latinLnBrk="1" hangingPunct="1">
        <a:lnSpc>
          <a:spcPct val="90000"/>
        </a:lnSpc>
        <a:spcBef>
          <a:spcPct val="0"/>
        </a:spcBef>
        <a:buNone/>
        <a:defRPr sz="104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1851" indent="-541851" algn="l" defTabSz="2167402" rtl="0" eaLnBrk="1" latinLnBrk="1" hangingPunct="1">
        <a:lnSpc>
          <a:spcPct val="90000"/>
        </a:lnSpc>
        <a:spcBef>
          <a:spcPts val="2370"/>
        </a:spcBef>
        <a:buFont typeface="Arial" panose="020B0604020202020204" pitchFamily="34" charset="0"/>
        <a:buChar char="•"/>
        <a:defRPr sz="6637" kern="1200">
          <a:solidFill>
            <a:schemeClr val="tx1"/>
          </a:solidFill>
          <a:latin typeface="+mn-lt"/>
          <a:ea typeface="+mn-ea"/>
          <a:cs typeface="+mn-cs"/>
        </a:defRPr>
      </a:lvl1pPr>
      <a:lvl2pPr marL="1625552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5689" kern="1200">
          <a:solidFill>
            <a:schemeClr val="tx1"/>
          </a:solidFill>
          <a:latin typeface="+mn-lt"/>
          <a:ea typeface="+mn-ea"/>
          <a:cs typeface="+mn-cs"/>
        </a:defRPr>
      </a:lvl2pPr>
      <a:lvl3pPr marL="2709253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741" kern="1200">
          <a:solidFill>
            <a:schemeClr val="tx1"/>
          </a:solidFill>
          <a:latin typeface="+mn-lt"/>
          <a:ea typeface="+mn-ea"/>
          <a:cs typeface="+mn-cs"/>
        </a:defRPr>
      </a:lvl3pPr>
      <a:lvl4pPr marL="3792954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876655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960356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7044058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8127759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9211460" indent="-541851" algn="l" defTabSz="2167402" rtl="0" eaLnBrk="1" latinLnBrk="1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1083701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167402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251103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334805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418506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6502207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7585908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8669609" algn="l" defTabSz="2167402" rtl="0" eaLnBrk="1" latinLnBrk="1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2E6FB-8C19-A1E9-132B-57B4FFD6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AC483476-9DDA-6878-F2CC-F039FFD6BB6D}"/>
              </a:ext>
            </a:extLst>
          </p:cNvPr>
          <p:cNvSpPr/>
          <p:nvPr/>
        </p:nvSpPr>
        <p:spPr>
          <a:xfrm>
            <a:off x="634753" y="11501373"/>
            <a:ext cx="15998584" cy="1226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867" b="1" dirty="0">
                <a:solidFill>
                  <a:schemeClr val="accent2"/>
                </a:solidFill>
              </a:rPr>
              <a:t>Instruction Status Table</a:t>
            </a:r>
            <a:endParaRPr lang="ko-KR" altLang="en-US" sz="1867" b="1" dirty="0">
              <a:solidFill>
                <a:schemeClr val="accent6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1186A0-4E7A-3857-8D9A-7F6DE868F6A3}"/>
              </a:ext>
            </a:extLst>
          </p:cNvPr>
          <p:cNvSpPr/>
          <p:nvPr/>
        </p:nvSpPr>
        <p:spPr>
          <a:xfrm>
            <a:off x="14115598" y="6365816"/>
            <a:ext cx="6513691" cy="35531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1867" b="1" dirty="0">
              <a:solidFill>
                <a:schemeClr val="accent2"/>
              </a:solidFill>
            </a:endParaRPr>
          </a:p>
          <a:p>
            <a:r>
              <a:rPr lang="en-US" altLang="ko-KR" sz="1867" b="1" dirty="0">
                <a:solidFill>
                  <a:schemeClr val="accent2"/>
                </a:solidFill>
              </a:rPr>
              <a:t>Physical Register Mapping</a:t>
            </a:r>
            <a:endParaRPr lang="ko-KR" altLang="en-US" sz="1867" b="1" dirty="0">
              <a:solidFill>
                <a:schemeClr val="accent2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AB91D3B-CAA5-4B58-A367-F2249C470351}"/>
              </a:ext>
            </a:extLst>
          </p:cNvPr>
          <p:cNvSpPr/>
          <p:nvPr/>
        </p:nvSpPr>
        <p:spPr>
          <a:xfrm>
            <a:off x="14461920" y="6772473"/>
            <a:ext cx="3438226" cy="2269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Register File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29787F-4D65-8246-942F-FDA109196AE7}"/>
              </a:ext>
            </a:extLst>
          </p:cNvPr>
          <p:cNvSpPr/>
          <p:nvPr/>
        </p:nvSpPr>
        <p:spPr>
          <a:xfrm>
            <a:off x="634754" y="6284405"/>
            <a:ext cx="12238898" cy="4447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867" b="1" dirty="0">
                <a:solidFill>
                  <a:schemeClr val="accent2"/>
                </a:solidFill>
              </a:rPr>
              <a:t>Instruction </a:t>
            </a:r>
          </a:p>
          <a:p>
            <a:pPr algn="r"/>
            <a:r>
              <a:rPr lang="en-US" altLang="ko-KR" sz="1867" b="1" dirty="0">
                <a:solidFill>
                  <a:schemeClr val="accent2"/>
                </a:solidFill>
              </a:rPr>
              <a:t>Status Table</a:t>
            </a:r>
            <a:endParaRPr lang="ko-KR" altLang="en-US" sz="1867" b="1" dirty="0">
              <a:solidFill>
                <a:schemeClr val="accent6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F12B87E-6773-21AE-1612-A449267A1DE4}"/>
              </a:ext>
            </a:extLst>
          </p:cNvPr>
          <p:cNvSpPr/>
          <p:nvPr/>
        </p:nvSpPr>
        <p:spPr>
          <a:xfrm>
            <a:off x="4704760" y="7061025"/>
            <a:ext cx="6492082" cy="3200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Register File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FDB9E8-F5F9-0FAC-412C-B37BA8CA0C1F}"/>
              </a:ext>
            </a:extLst>
          </p:cNvPr>
          <p:cNvSpPr/>
          <p:nvPr/>
        </p:nvSpPr>
        <p:spPr>
          <a:xfrm>
            <a:off x="634754" y="1544652"/>
            <a:ext cx="11039599" cy="37973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867" b="1" dirty="0">
                <a:solidFill>
                  <a:schemeClr val="accent6"/>
                </a:solidFill>
              </a:rPr>
              <a:t>New Entry Logic</a:t>
            </a:r>
            <a:endParaRPr lang="ko-KR" altLang="en-US" sz="1867" b="1" dirty="0">
              <a:solidFill>
                <a:schemeClr val="accent6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91D268B-99FC-16B4-2CF9-D14C4879B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30545"/>
              </p:ext>
            </p:extLst>
          </p:nvPr>
        </p:nvGraphicFramePr>
        <p:xfrm>
          <a:off x="6528946" y="2231624"/>
          <a:ext cx="4054410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09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7800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624190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  <a:gridCol w="408041">
                  <a:extLst>
                    <a:ext uri="{9D8B030D-6E8A-4147-A177-3AD203B41FA5}">
                      <a16:colId xmlns:a16="http://schemas.microsoft.com/office/drawing/2014/main" val="1856337919"/>
                    </a:ext>
                  </a:extLst>
                </a:gridCol>
                <a:gridCol w="408041">
                  <a:extLst>
                    <a:ext uri="{9D8B030D-6E8A-4147-A177-3AD203B41FA5}">
                      <a16:colId xmlns:a16="http://schemas.microsoft.com/office/drawing/2014/main" val="3991809807"/>
                    </a:ext>
                  </a:extLst>
                </a:gridCol>
                <a:gridCol w="624190">
                  <a:extLst>
                    <a:ext uri="{9D8B030D-6E8A-4147-A177-3AD203B41FA5}">
                      <a16:colId xmlns:a16="http://schemas.microsoft.com/office/drawing/2014/main" val="510450466"/>
                    </a:ext>
                  </a:extLst>
                </a:gridCol>
                <a:gridCol w="352480">
                  <a:extLst>
                    <a:ext uri="{9D8B030D-6E8A-4147-A177-3AD203B41FA5}">
                      <a16:colId xmlns:a16="http://schemas.microsoft.com/office/drawing/2014/main" val="550937721"/>
                    </a:ext>
                  </a:extLst>
                </a:gridCol>
                <a:gridCol w="698159">
                  <a:extLst>
                    <a:ext uri="{9D8B030D-6E8A-4147-A177-3AD203B41FA5}">
                      <a16:colId xmlns:a16="http://schemas.microsoft.com/office/drawing/2014/main" val="2090015188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funct7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rs2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rs1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funct3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</a:rPr>
                        <a:t>rd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opcode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024F62-F5AE-EBCF-B92D-8616ECC93468}"/>
              </a:ext>
            </a:extLst>
          </p:cNvPr>
          <p:cNvGraphicFramePr>
            <a:graphicFrameLocks noGrp="1"/>
          </p:cNvGraphicFramePr>
          <p:nvPr/>
        </p:nvGraphicFramePr>
        <p:xfrm>
          <a:off x="4775879" y="7322482"/>
          <a:ext cx="6265182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0114">
                  <a:extLst>
                    <a:ext uri="{9D8B030D-6E8A-4147-A177-3AD203B41FA5}">
                      <a16:colId xmlns:a16="http://schemas.microsoft.com/office/drawing/2014/main" val="2655353042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  <a:gridCol w="686630">
                  <a:extLst>
                    <a:ext uri="{9D8B030D-6E8A-4147-A177-3AD203B41FA5}">
                      <a16:colId xmlns:a16="http://schemas.microsoft.com/office/drawing/2014/main" val="759475826"/>
                    </a:ext>
                  </a:extLst>
                </a:gridCol>
                <a:gridCol w="703142">
                  <a:extLst>
                    <a:ext uri="{9D8B030D-6E8A-4147-A177-3AD203B41FA5}">
                      <a16:colId xmlns:a16="http://schemas.microsoft.com/office/drawing/2014/main" val="302262676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88DC73E-45C9-DE81-0780-DD51B3B76AA7}"/>
              </a:ext>
            </a:extLst>
          </p:cNvPr>
          <p:cNvGraphicFramePr>
            <a:graphicFrameLocks noGrp="1"/>
          </p:cNvGraphicFramePr>
          <p:nvPr/>
        </p:nvGraphicFramePr>
        <p:xfrm>
          <a:off x="6071247" y="6155230"/>
          <a:ext cx="4969815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  <a:gridCol w="686630">
                  <a:extLst>
                    <a:ext uri="{9D8B030D-6E8A-4147-A177-3AD203B41FA5}">
                      <a16:colId xmlns:a16="http://schemas.microsoft.com/office/drawing/2014/main" val="759475826"/>
                    </a:ext>
                  </a:extLst>
                </a:gridCol>
                <a:gridCol w="703142">
                  <a:extLst>
                    <a:ext uri="{9D8B030D-6E8A-4147-A177-3AD203B41FA5}">
                      <a16:colId xmlns:a16="http://schemas.microsoft.com/office/drawing/2014/main" val="302262676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40D0663-89ED-5377-CEF5-4A8161C99FBA}"/>
              </a:ext>
            </a:extLst>
          </p:cNvPr>
          <p:cNvGraphicFramePr>
            <a:graphicFrameLocks noGrp="1"/>
          </p:cNvGraphicFramePr>
          <p:nvPr/>
        </p:nvGraphicFramePr>
        <p:xfrm>
          <a:off x="11669848" y="7314131"/>
          <a:ext cx="1994759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09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7800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1055450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AD818A8-3824-0388-7296-D7EF4175B33F}"/>
              </a:ext>
            </a:extLst>
          </p:cNvPr>
          <p:cNvGraphicFramePr>
            <a:graphicFrameLocks noGrp="1"/>
          </p:cNvGraphicFramePr>
          <p:nvPr/>
        </p:nvGraphicFramePr>
        <p:xfrm>
          <a:off x="14538487" y="7311447"/>
          <a:ext cx="3297752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95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6742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1220017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  <a:gridCol w="1129798">
                  <a:extLst>
                    <a:ext uri="{9D8B030D-6E8A-4147-A177-3AD203B41FA5}">
                      <a16:colId xmlns:a16="http://schemas.microsoft.com/office/drawing/2014/main" val="2521539334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Buffer 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Buffer</a:t>
                      </a:r>
                      <a:r>
                        <a:rPr lang="en-US" altLang="ko-KR" sz="1200" baseline="0" dirty="0">
                          <a:solidFill>
                            <a:sysClr val="windowText" lastClr="000000"/>
                          </a:solidFill>
                        </a:rPr>
                        <a:t> Count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F6E09E7-988A-47E3-ECBA-A1D3D91D181C}"/>
              </a:ext>
            </a:extLst>
          </p:cNvPr>
          <p:cNvGraphicFramePr>
            <a:graphicFrameLocks noGrp="1"/>
          </p:cNvGraphicFramePr>
          <p:nvPr/>
        </p:nvGraphicFramePr>
        <p:xfrm>
          <a:off x="4775880" y="9405799"/>
          <a:ext cx="6265182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0114">
                  <a:extLst>
                    <a:ext uri="{9D8B030D-6E8A-4147-A177-3AD203B41FA5}">
                      <a16:colId xmlns:a16="http://schemas.microsoft.com/office/drawing/2014/main" val="2655353042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  <a:gridCol w="686630">
                  <a:extLst>
                    <a:ext uri="{9D8B030D-6E8A-4147-A177-3AD203B41FA5}">
                      <a16:colId xmlns:a16="http://schemas.microsoft.com/office/drawing/2014/main" val="759475826"/>
                    </a:ext>
                  </a:extLst>
                </a:gridCol>
                <a:gridCol w="703142">
                  <a:extLst>
                    <a:ext uri="{9D8B030D-6E8A-4147-A177-3AD203B41FA5}">
                      <a16:colId xmlns:a16="http://schemas.microsoft.com/office/drawing/2014/main" val="302262676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4503882-C013-2C0D-A87E-3A32DA6A33FE}"/>
              </a:ext>
            </a:extLst>
          </p:cNvPr>
          <p:cNvGraphicFramePr>
            <a:graphicFrameLocks noGrp="1"/>
          </p:cNvGraphicFramePr>
          <p:nvPr/>
        </p:nvGraphicFramePr>
        <p:xfrm>
          <a:off x="6303505" y="10569162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35BE31D7-5C30-740E-FF78-6879CCA4E358}"/>
              </a:ext>
            </a:extLst>
          </p:cNvPr>
          <p:cNvGraphicFramePr>
            <a:graphicFrameLocks noGrp="1"/>
          </p:cNvGraphicFramePr>
          <p:nvPr/>
        </p:nvGraphicFramePr>
        <p:xfrm>
          <a:off x="11669848" y="8369176"/>
          <a:ext cx="1994759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09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7800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1055450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C307A1E-777A-C836-15DA-E64E13AC5EE7}"/>
              </a:ext>
            </a:extLst>
          </p:cNvPr>
          <p:cNvGraphicFramePr>
            <a:graphicFrameLocks noGrp="1"/>
          </p:cNvGraphicFramePr>
          <p:nvPr/>
        </p:nvGraphicFramePr>
        <p:xfrm>
          <a:off x="14538487" y="8369176"/>
          <a:ext cx="3297752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95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6742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1220017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  <a:gridCol w="1129798">
                  <a:extLst>
                    <a:ext uri="{9D8B030D-6E8A-4147-A177-3AD203B41FA5}">
                      <a16:colId xmlns:a16="http://schemas.microsoft.com/office/drawing/2014/main" val="2521539334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Buffer 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Buffer</a:t>
                      </a:r>
                      <a:r>
                        <a:rPr lang="en-US" altLang="ko-KR" sz="1200" baseline="0" dirty="0">
                          <a:solidFill>
                            <a:sysClr val="windowText" lastClr="000000"/>
                          </a:solidFill>
                        </a:rPr>
                        <a:t> Count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00CDDA0-5E30-8E4F-0A02-A8FFD88D1F9F}"/>
              </a:ext>
            </a:extLst>
          </p:cNvPr>
          <p:cNvGraphicFramePr>
            <a:graphicFrameLocks noGrp="1"/>
          </p:cNvGraphicFramePr>
          <p:nvPr/>
        </p:nvGraphicFramePr>
        <p:xfrm>
          <a:off x="6071247" y="5204777"/>
          <a:ext cx="4969815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  <a:gridCol w="686630">
                  <a:extLst>
                    <a:ext uri="{9D8B030D-6E8A-4147-A177-3AD203B41FA5}">
                      <a16:colId xmlns:a16="http://schemas.microsoft.com/office/drawing/2014/main" val="759475826"/>
                    </a:ext>
                  </a:extLst>
                </a:gridCol>
                <a:gridCol w="703142">
                  <a:extLst>
                    <a:ext uri="{9D8B030D-6E8A-4147-A177-3AD203B41FA5}">
                      <a16:colId xmlns:a16="http://schemas.microsoft.com/office/drawing/2014/main" val="302262676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sp>
        <p:nvSpPr>
          <p:cNvPr id="23" name="아래쪽 화살표 22">
            <a:extLst>
              <a:ext uri="{FF2B5EF4-FFF2-40B4-BE49-F238E27FC236}">
                <a16:creationId xmlns:a16="http://schemas.microsoft.com/office/drawing/2014/main" id="{8F92AB74-0F09-FE2D-4B68-35AB8E37A2A5}"/>
              </a:ext>
            </a:extLst>
          </p:cNvPr>
          <p:cNvSpPr/>
          <p:nvPr/>
        </p:nvSpPr>
        <p:spPr>
          <a:xfrm>
            <a:off x="7210133" y="6564512"/>
            <a:ext cx="792461" cy="653091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24" name="아래쪽 화살표 23">
            <a:extLst>
              <a:ext uri="{FF2B5EF4-FFF2-40B4-BE49-F238E27FC236}">
                <a16:creationId xmlns:a16="http://schemas.microsoft.com/office/drawing/2014/main" id="{E352BD66-20DC-9A1F-CC19-B590BA9BB853}"/>
              </a:ext>
            </a:extLst>
          </p:cNvPr>
          <p:cNvSpPr/>
          <p:nvPr/>
        </p:nvSpPr>
        <p:spPr>
          <a:xfrm>
            <a:off x="7210133" y="9837924"/>
            <a:ext cx="792461" cy="61147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29" name="아래쪽 화살표 28">
            <a:extLst>
              <a:ext uri="{FF2B5EF4-FFF2-40B4-BE49-F238E27FC236}">
                <a16:creationId xmlns:a16="http://schemas.microsoft.com/office/drawing/2014/main" id="{64655997-4A6A-6418-ADA1-B4A6852B6E7B}"/>
              </a:ext>
            </a:extLst>
          </p:cNvPr>
          <p:cNvSpPr/>
          <p:nvPr/>
        </p:nvSpPr>
        <p:spPr>
          <a:xfrm rot="16200000">
            <a:off x="13928045" y="7196757"/>
            <a:ext cx="375107" cy="543269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30" name="아래쪽 화살표 29">
            <a:extLst>
              <a:ext uri="{FF2B5EF4-FFF2-40B4-BE49-F238E27FC236}">
                <a16:creationId xmlns:a16="http://schemas.microsoft.com/office/drawing/2014/main" id="{8BA7894E-001F-C699-5FE2-49452B1E8798}"/>
              </a:ext>
            </a:extLst>
          </p:cNvPr>
          <p:cNvSpPr/>
          <p:nvPr/>
        </p:nvSpPr>
        <p:spPr>
          <a:xfrm rot="5400000">
            <a:off x="13928047" y="8255591"/>
            <a:ext cx="375107" cy="543269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6618C32-1E8E-A488-D4DC-3A5F347B8DED}"/>
              </a:ext>
            </a:extLst>
          </p:cNvPr>
          <p:cNvGraphicFramePr>
            <a:graphicFrameLocks noGrp="1"/>
          </p:cNvGraphicFramePr>
          <p:nvPr/>
        </p:nvGraphicFramePr>
        <p:xfrm>
          <a:off x="4775880" y="8369176"/>
          <a:ext cx="6265182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0114">
                  <a:extLst>
                    <a:ext uri="{9D8B030D-6E8A-4147-A177-3AD203B41FA5}">
                      <a16:colId xmlns:a16="http://schemas.microsoft.com/office/drawing/2014/main" val="2655353042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  <a:gridCol w="686630">
                  <a:extLst>
                    <a:ext uri="{9D8B030D-6E8A-4147-A177-3AD203B41FA5}">
                      <a16:colId xmlns:a16="http://schemas.microsoft.com/office/drawing/2014/main" val="759475826"/>
                    </a:ext>
                  </a:extLst>
                </a:gridCol>
                <a:gridCol w="703142">
                  <a:extLst>
                    <a:ext uri="{9D8B030D-6E8A-4147-A177-3AD203B41FA5}">
                      <a16:colId xmlns:a16="http://schemas.microsoft.com/office/drawing/2014/main" val="302262676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sp>
        <p:nvSpPr>
          <p:cNvPr id="36" name="위로 굽은 화살표 35">
            <a:extLst>
              <a:ext uri="{FF2B5EF4-FFF2-40B4-BE49-F238E27FC236}">
                <a16:creationId xmlns:a16="http://schemas.microsoft.com/office/drawing/2014/main" id="{1AF2D920-B82D-5E1F-AFC2-62048A4E0CF5}"/>
              </a:ext>
            </a:extLst>
          </p:cNvPr>
          <p:cNvSpPr/>
          <p:nvPr/>
        </p:nvSpPr>
        <p:spPr>
          <a:xfrm flipV="1">
            <a:off x="7684955" y="6673541"/>
            <a:ext cx="5054477" cy="570950"/>
          </a:xfrm>
          <a:prstGeom prst="bentUp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37" name="줄무늬가 있는 오른쪽 화살표 36">
            <a:extLst>
              <a:ext uri="{FF2B5EF4-FFF2-40B4-BE49-F238E27FC236}">
                <a16:creationId xmlns:a16="http://schemas.microsoft.com/office/drawing/2014/main" id="{6E4573E6-1292-48EE-A6E0-4025ED48AC4E}"/>
              </a:ext>
            </a:extLst>
          </p:cNvPr>
          <p:cNvSpPr/>
          <p:nvPr/>
        </p:nvSpPr>
        <p:spPr>
          <a:xfrm rot="5400000">
            <a:off x="10074047" y="8648483"/>
            <a:ext cx="486260" cy="791905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38" name="U자형 화살표 37">
            <a:extLst>
              <a:ext uri="{FF2B5EF4-FFF2-40B4-BE49-F238E27FC236}">
                <a16:creationId xmlns:a16="http://schemas.microsoft.com/office/drawing/2014/main" id="{7B4DF33B-2AEC-E721-7A54-D9FDB5A1C9DE}"/>
              </a:ext>
            </a:extLst>
          </p:cNvPr>
          <p:cNvSpPr/>
          <p:nvPr/>
        </p:nvSpPr>
        <p:spPr>
          <a:xfrm rot="13876952">
            <a:off x="4313154" y="7435107"/>
            <a:ext cx="711183" cy="622157"/>
          </a:xfrm>
          <a:prstGeom prst="utur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39" name="U자형 화살표 38">
            <a:extLst>
              <a:ext uri="{FF2B5EF4-FFF2-40B4-BE49-F238E27FC236}">
                <a16:creationId xmlns:a16="http://schemas.microsoft.com/office/drawing/2014/main" id="{BB68E361-898B-AC9B-1E35-706827D215A7}"/>
              </a:ext>
            </a:extLst>
          </p:cNvPr>
          <p:cNvSpPr/>
          <p:nvPr/>
        </p:nvSpPr>
        <p:spPr>
          <a:xfrm rot="13876952">
            <a:off x="4313154" y="8504466"/>
            <a:ext cx="711183" cy="622157"/>
          </a:xfrm>
          <a:prstGeom prst="utur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40" name="U자형 화살표 39">
            <a:extLst>
              <a:ext uri="{FF2B5EF4-FFF2-40B4-BE49-F238E27FC236}">
                <a16:creationId xmlns:a16="http://schemas.microsoft.com/office/drawing/2014/main" id="{807BDCAA-75CF-F29F-F285-AB00BE7222E7}"/>
              </a:ext>
            </a:extLst>
          </p:cNvPr>
          <p:cNvSpPr/>
          <p:nvPr/>
        </p:nvSpPr>
        <p:spPr>
          <a:xfrm rot="7723048" flipH="1">
            <a:off x="17564170" y="7420593"/>
            <a:ext cx="711183" cy="622157"/>
          </a:xfrm>
          <a:prstGeom prst="utur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41" name="U자형 화살표 40">
            <a:extLst>
              <a:ext uri="{FF2B5EF4-FFF2-40B4-BE49-F238E27FC236}">
                <a16:creationId xmlns:a16="http://schemas.microsoft.com/office/drawing/2014/main" id="{D962A0E1-C8BE-8F15-C37E-221F5EBB9A23}"/>
              </a:ext>
            </a:extLst>
          </p:cNvPr>
          <p:cNvSpPr/>
          <p:nvPr/>
        </p:nvSpPr>
        <p:spPr>
          <a:xfrm flipH="1">
            <a:off x="8372430" y="7788909"/>
            <a:ext cx="4862145" cy="5132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87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B8582B2-8940-1815-B514-D7B5ECF37B72}"/>
              </a:ext>
            </a:extLst>
          </p:cNvPr>
          <p:cNvSpPr/>
          <p:nvPr/>
        </p:nvSpPr>
        <p:spPr>
          <a:xfrm>
            <a:off x="7801791" y="8298229"/>
            <a:ext cx="1378828" cy="46963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0BF0163-F6A5-14E4-4A79-2C6C7E081F92}"/>
              </a:ext>
            </a:extLst>
          </p:cNvPr>
          <p:cNvSpPr/>
          <p:nvPr/>
        </p:nvSpPr>
        <p:spPr>
          <a:xfrm>
            <a:off x="9699453" y="8403350"/>
            <a:ext cx="1274721" cy="246985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D407D097-2ABC-CA59-3053-37CE0F948F55}"/>
              </a:ext>
            </a:extLst>
          </p:cNvPr>
          <p:cNvGraphicFramePr>
            <a:graphicFrameLocks noGrp="1"/>
          </p:cNvGraphicFramePr>
          <p:nvPr/>
        </p:nvGraphicFramePr>
        <p:xfrm>
          <a:off x="6303505" y="11370018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4F3E0C04-237B-5A5C-89F1-AD269B0457AF}"/>
              </a:ext>
            </a:extLst>
          </p:cNvPr>
          <p:cNvSpPr/>
          <p:nvPr/>
        </p:nvSpPr>
        <p:spPr>
          <a:xfrm>
            <a:off x="6071247" y="13717056"/>
            <a:ext cx="5125596" cy="11020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867" b="1" dirty="0">
                <a:solidFill>
                  <a:schemeClr val="accent6"/>
                </a:solidFill>
              </a:rPr>
              <a:t>Execute Unit</a:t>
            </a:r>
          </a:p>
          <a:p>
            <a:pPr algn="r"/>
            <a:r>
              <a:rPr lang="en-US" altLang="ko-KR" sz="1867" b="1" dirty="0">
                <a:solidFill>
                  <a:schemeClr val="accent6"/>
                </a:solidFill>
              </a:rPr>
              <a:t>( ALU )</a:t>
            </a:r>
            <a:endParaRPr lang="ko-KR" altLang="en-US" sz="1867" b="1" dirty="0">
              <a:solidFill>
                <a:schemeClr val="accent6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D1D5AF6-F77E-62CF-1DE1-26BEB038B6A8}"/>
              </a:ext>
            </a:extLst>
          </p:cNvPr>
          <p:cNvSpPr/>
          <p:nvPr/>
        </p:nvSpPr>
        <p:spPr>
          <a:xfrm>
            <a:off x="634753" y="13717056"/>
            <a:ext cx="5125596" cy="11020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867" b="1" dirty="0">
                <a:solidFill>
                  <a:schemeClr val="accent6"/>
                </a:solidFill>
              </a:rPr>
              <a:t>Execute Unit</a:t>
            </a:r>
          </a:p>
          <a:p>
            <a:pPr algn="r"/>
            <a:r>
              <a:rPr lang="en-US" altLang="ko-KR" sz="1867" b="1" dirty="0">
                <a:solidFill>
                  <a:schemeClr val="accent6"/>
                </a:solidFill>
              </a:rPr>
              <a:t>( Branch )</a:t>
            </a:r>
            <a:endParaRPr lang="ko-KR" altLang="en-US" sz="1867" b="1" dirty="0">
              <a:solidFill>
                <a:schemeClr val="accent6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5821FD8-9AFB-1FEC-B960-03C6F6B0C535}"/>
              </a:ext>
            </a:extLst>
          </p:cNvPr>
          <p:cNvSpPr/>
          <p:nvPr/>
        </p:nvSpPr>
        <p:spPr>
          <a:xfrm>
            <a:off x="11507741" y="13717056"/>
            <a:ext cx="5125596" cy="11020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867" b="1" dirty="0">
                <a:solidFill>
                  <a:schemeClr val="accent6"/>
                </a:solidFill>
              </a:rPr>
              <a:t>Execute Unit</a:t>
            </a:r>
          </a:p>
          <a:p>
            <a:pPr algn="r"/>
            <a:r>
              <a:rPr lang="en-US" altLang="ko-KR" sz="1867" b="1" dirty="0">
                <a:solidFill>
                  <a:schemeClr val="accent6"/>
                </a:solidFill>
              </a:rPr>
              <a:t>( Memory Access )</a:t>
            </a:r>
            <a:endParaRPr lang="ko-KR" altLang="en-US" sz="1867" b="1" dirty="0">
              <a:solidFill>
                <a:schemeClr val="accent6"/>
              </a:solidFill>
            </a:endParaRP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4379CDCD-633C-42A2-2336-71D0A500AB86}"/>
              </a:ext>
            </a:extLst>
          </p:cNvPr>
          <p:cNvGraphicFramePr>
            <a:graphicFrameLocks noGrp="1"/>
          </p:cNvGraphicFramePr>
          <p:nvPr/>
        </p:nvGraphicFramePr>
        <p:xfrm>
          <a:off x="6387381" y="13560111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7F65BEAC-56AF-90A5-E36B-4A117DE30F49}"/>
              </a:ext>
            </a:extLst>
          </p:cNvPr>
          <p:cNvGraphicFramePr>
            <a:graphicFrameLocks noGrp="1"/>
          </p:cNvGraphicFramePr>
          <p:nvPr/>
        </p:nvGraphicFramePr>
        <p:xfrm>
          <a:off x="944903" y="13560111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FE5D5614-95FC-DF7A-758E-994CD64F9B11}"/>
              </a:ext>
            </a:extLst>
          </p:cNvPr>
          <p:cNvGraphicFramePr>
            <a:graphicFrameLocks noGrp="1"/>
          </p:cNvGraphicFramePr>
          <p:nvPr/>
        </p:nvGraphicFramePr>
        <p:xfrm>
          <a:off x="11788267" y="13560111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sp>
        <p:nvSpPr>
          <p:cNvPr id="72" name="직사각형 71">
            <a:extLst>
              <a:ext uri="{FF2B5EF4-FFF2-40B4-BE49-F238E27FC236}">
                <a16:creationId xmlns:a16="http://schemas.microsoft.com/office/drawing/2014/main" id="{53990DFF-53E5-BDCF-1972-A4C6B93A2AC0}"/>
              </a:ext>
            </a:extLst>
          </p:cNvPr>
          <p:cNvSpPr/>
          <p:nvPr/>
        </p:nvSpPr>
        <p:spPr>
          <a:xfrm>
            <a:off x="11720884" y="12147586"/>
            <a:ext cx="4680784" cy="476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FIFO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E6D7E9E0-6497-F54B-F56B-330A94620C08}"/>
              </a:ext>
            </a:extLst>
          </p:cNvPr>
          <p:cNvGraphicFramePr>
            <a:graphicFrameLocks noGrp="1"/>
          </p:cNvGraphicFramePr>
          <p:nvPr/>
        </p:nvGraphicFramePr>
        <p:xfrm>
          <a:off x="11791839" y="12556419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7BB54F7B-90B7-6545-56BB-65B266B4D9CF}"/>
              </a:ext>
            </a:extLst>
          </p:cNvPr>
          <p:cNvSpPr/>
          <p:nvPr/>
        </p:nvSpPr>
        <p:spPr>
          <a:xfrm>
            <a:off x="6276006" y="12147586"/>
            <a:ext cx="4680784" cy="476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FIFO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F00BBF0-9551-A4FB-9550-6508A994E080}"/>
              </a:ext>
            </a:extLst>
          </p:cNvPr>
          <p:cNvSpPr/>
          <p:nvPr/>
        </p:nvSpPr>
        <p:spPr>
          <a:xfrm>
            <a:off x="860156" y="12147586"/>
            <a:ext cx="4680784" cy="476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FIFO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F413C385-F3C1-B112-06AA-095B0A1E0F86}"/>
              </a:ext>
            </a:extLst>
          </p:cNvPr>
          <p:cNvGraphicFramePr>
            <a:graphicFrameLocks noGrp="1"/>
          </p:cNvGraphicFramePr>
          <p:nvPr/>
        </p:nvGraphicFramePr>
        <p:xfrm>
          <a:off x="6375989" y="12556419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E59F5E1A-120C-8A4D-5A40-EF6F419AB409}"/>
              </a:ext>
            </a:extLst>
          </p:cNvPr>
          <p:cNvGraphicFramePr>
            <a:graphicFrameLocks noGrp="1"/>
          </p:cNvGraphicFramePr>
          <p:nvPr/>
        </p:nvGraphicFramePr>
        <p:xfrm>
          <a:off x="944903" y="12556419"/>
          <a:ext cx="450529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53">
                  <a:extLst>
                    <a:ext uri="{9D8B030D-6E8A-4147-A177-3AD203B41FA5}">
                      <a16:colId xmlns:a16="http://schemas.microsoft.com/office/drawing/2014/main" val="3643420387"/>
                    </a:ext>
                  </a:extLst>
                </a:gridCol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IST Index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sp>
        <p:nvSpPr>
          <p:cNvPr id="69" name="줄무늬가 있는 오른쪽 화살표 68">
            <a:extLst>
              <a:ext uri="{FF2B5EF4-FFF2-40B4-BE49-F238E27FC236}">
                <a16:creationId xmlns:a16="http://schemas.microsoft.com/office/drawing/2014/main" id="{10A3BCE4-8E38-E372-0CD4-FEEEA9B4C647}"/>
              </a:ext>
            </a:extLst>
          </p:cNvPr>
          <p:cNvSpPr/>
          <p:nvPr/>
        </p:nvSpPr>
        <p:spPr>
          <a:xfrm rot="5400000">
            <a:off x="8396899" y="11713796"/>
            <a:ext cx="486260" cy="791905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70" name="줄무늬가 있는 오른쪽 화살표 69">
            <a:extLst>
              <a:ext uri="{FF2B5EF4-FFF2-40B4-BE49-F238E27FC236}">
                <a16:creationId xmlns:a16="http://schemas.microsoft.com/office/drawing/2014/main" id="{B9335B9C-A2CE-377A-B0D9-1F058B56F5BB}"/>
              </a:ext>
            </a:extLst>
          </p:cNvPr>
          <p:cNvSpPr/>
          <p:nvPr/>
        </p:nvSpPr>
        <p:spPr>
          <a:xfrm rot="8100000">
            <a:off x="5643552" y="11682034"/>
            <a:ext cx="486260" cy="791905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71" name="줄무늬가 있는 오른쪽 화살표 70">
            <a:extLst>
              <a:ext uri="{FF2B5EF4-FFF2-40B4-BE49-F238E27FC236}">
                <a16:creationId xmlns:a16="http://schemas.microsoft.com/office/drawing/2014/main" id="{3AA5BBA1-C6E0-09C0-5FE8-AB0E34111793}"/>
              </a:ext>
            </a:extLst>
          </p:cNvPr>
          <p:cNvSpPr/>
          <p:nvPr/>
        </p:nvSpPr>
        <p:spPr>
          <a:xfrm rot="2700000">
            <a:off x="11126995" y="11713797"/>
            <a:ext cx="486260" cy="791905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76" name="아래쪽 화살표 75">
            <a:extLst>
              <a:ext uri="{FF2B5EF4-FFF2-40B4-BE49-F238E27FC236}">
                <a16:creationId xmlns:a16="http://schemas.microsoft.com/office/drawing/2014/main" id="{8268DB9D-46D2-052C-B5E3-B80B5EF7B194}"/>
              </a:ext>
            </a:extLst>
          </p:cNvPr>
          <p:cNvSpPr/>
          <p:nvPr/>
        </p:nvSpPr>
        <p:spPr>
          <a:xfrm>
            <a:off x="8385554" y="13993753"/>
            <a:ext cx="792461" cy="54865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78" name="아래쪽 화살표 77">
            <a:extLst>
              <a:ext uri="{FF2B5EF4-FFF2-40B4-BE49-F238E27FC236}">
                <a16:creationId xmlns:a16="http://schemas.microsoft.com/office/drawing/2014/main" id="{FE9116E1-C512-8C74-5440-C1BA15228D3C}"/>
              </a:ext>
            </a:extLst>
          </p:cNvPr>
          <p:cNvSpPr/>
          <p:nvPr/>
        </p:nvSpPr>
        <p:spPr>
          <a:xfrm>
            <a:off x="13829450" y="13993753"/>
            <a:ext cx="792461" cy="54865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80" name="아래쪽 화살표 79">
            <a:extLst>
              <a:ext uri="{FF2B5EF4-FFF2-40B4-BE49-F238E27FC236}">
                <a16:creationId xmlns:a16="http://schemas.microsoft.com/office/drawing/2014/main" id="{2217D558-8686-1C32-6964-3822EB69795F}"/>
              </a:ext>
            </a:extLst>
          </p:cNvPr>
          <p:cNvSpPr/>
          <p:nvPr/>
        </p:nvSpPr>
        <p:spPr>
          <a:xfrm>
            <a:off x="2956798" y="13993753"/>
            <a:ext cx="792461" cy="54865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1A755ED-1903-6EF0-7605-74809A3E5BF3}"/>
              </a:ext>
            </a:extLst>
          </p:cNvPr>
          <p:cNvSpPr/>
          <p:nvPr/>
        </p:nvSpPr>
        <p:spPr>
          <a:xfrm>
            <a:off x="18461740" y="7108552"/>
            <a:ext cx="1668094" cy="17702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Allocator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4" name="U자형 화살표 83">
            <a:extLst>
              <a:ext uri="{FF2B5EF4-FFF2-40B4-BE49-F238E27FC236}">
                <a16:creationId xmlns:a16="http://schemas.microsoft.com/office/drawing/2014/main" id="{6507DA07-590A-E209-4267-9DC5B382A8A0}"/>
              </a:ext>
            </a:extLst>
          </p:cNvPr>
          <p:cNvSpPr/>
          <p:nvPr/>
        </p:nvSpPr>
        <p:spPr>
          <a:xfrm>
            <a:off x="2588971" y="6772473"/>
            <a:ext cx="2845812" cy="5132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87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89" name="아래쪽 화살표 88">
            <a:extLst>
              <a:ext uri="{FF2B5EF4-FFF2-40B4-BE49-F238E27FC236}">
                <a16:creationId xmlns:a16="http://schemas.microsoft.com/office/drawing/2014/main" id="{856B5914-C205-4566-76BD-E64573891B38}"/>
              </a:ext>
            </a:extLst>
          </p:cNvPr>
          <p:cNvSpPr/>
          <p:nvPr/>
        </p:nvSpPr>
        <p:spPr>
          <a:xfrm rot="10800000">
            <a:off x="14738981" y="8714778"/>
            <a:ext cx="375107" cy="61449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A26DF4-006E-462B-7E8E-A4D183688A8C}"/>
              </a:ext>
            </a:extLst>
          </p:cNvPr>
          <p:cNvSpPr/>
          <p:nvPr/>
        </p:nvSpPr>
        <p:spPr>
          <a:xfrm>
            <a:off x="14958771" y="9169503"/>
            <a:ext cx="3337560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D7A2C69-29AD-9986-2A91-ECCA64895C1F}"/>
              </a:ext>
            </a:extLst>
          </p:cNvPr>
          <p:cNvSpPr/>
          <p:nvPr/>
        </p:nvSpPr>
        <p:spPr>
          <a:xfrm rot="5400000">
            <a:off x="15080814" y="12210962"/>
            <a:ext cx="6255814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86372D5-995D-46FD-277A-170D3D7113BF}"/>
              </a:ext>
            </a:extLst>
          </p:cNvPr>
          <p:cNvSpPr/>
          <p:nvPr/>
        </p:nvSpPr>
        <p:spPr>
          <a:xfrm>
            <a:off x="3264004" y="15248547"/>
            <a:ext cx="15032327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DC591F7-1578-FFB9-8CB0-75284C0DD560}"/>
              </a:ext>
            </a:extLst>
          </p:cNvPr>
          <p:cNvSpPr/>
          <p:nvPr/>
        </p:nvSpPr>
        <p:spPr>
          <a:xfrm rot="5400000">
            <a:off x="3139971" y="15100084"/>
            <a:ext cx="428707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6D2488C-A275-2B28-BDF7-AAAB99D9B421}"/>
              </a:ext>
            </a:extLst>
          </p:cNvPr>
          <p:cNvSpPr/>
          <p:nvPr/>
        </p:nvSpPr>
        <p:spPr>
          <a:xfrm rot="5400000">
            <a:off x="8567432" y="15100085"/>
            <a:ext cx="428706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C1ECBEF-D646-DAFC-9C66-3CAF852878DC}"/>
              </a:ext>
            </a:extLst>
          </p:cNvPr>
          <p:cNvSpPr/>
          <p:nvPr/>
        </p:nvSpPr>
        <p:spPr>
          <a:xfrm rot="5400000">
            <a:off x="14015352" y="15100085"/>
            <a:ext cx="428705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U자형 화살표 94">
            <a:extLst>
              <a:ext uri="{FF2B5EF4-FFF2-40B4-BE49-F238E27FC236}">
                <a16:creationId xmlns:a16="http://schemas.microsoft.com/office/drawing/2014/main" id="{3B3F44CB-A6B7-6DD9-969A-00F9CEF26CFA}"/>
              </a:ext>
            </a:extLst>
          </p:cNvPr>
          <p:cNvSpPr/>
          <p:nvPr/>
        </p:nvSpPr>
        <p:spPr>
          <a:xfrm flipH="1" flipV="1">
            <a:off x="2436569" y="9727169"/>
            <a:ext cx="2896623" cy="887397"/>
          </a:xfrm>
          <a:prstGeom prst="uturnArrow">
            <a:avLst>
              <a:gd name="adj1" fmla="val 12570"/>
              <a:gd name="adj2" fmla="val 18130"/>
              <a:gd name="adj3" fmla="val 16500"/>
              <a:gd name="adj4" fmla="val 43750"/>
              <a:gd name="adj5" fmla="val 3929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EB7E89C-2DC5-1E1B-A6C6-6C63A4B5FB36}"/>
              </a:ext>
            </a:extLst>
          </p:cNvPr>
          <p:cNvSpPr/>
          <p:nvPr/>
        </p:nvSpPr>
        <p:spPr>
          <a:xfrm>
            <a:off x="1208538" y="7274164"/>
            <a:ext cx="2839295" cy="2987183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Allocator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아래쪽 화살표 33">
            <a:extLst>
              <a:ext uri="{FF2B5EF4-FFF2-40B4-BE49-F238E27FC236}">
                <a16:creationId xmlns:a16="http://schemas.microsoft.com/office/drawing/2014/main" id="{D7CB9CA6-583C-7EE0-F5FE-7D76225258EB}"/>
              </a:ext>
            </a:extLst>
          </p:cNvPr>
          <p:cNvSpPr/>
          <p:nvPr/>
        </p:nvSpPr>
        <p:spPr>
          <a:xfrm>
            <a:off x="8095790" y="5603963"/>
            <a:ext cx="809758" cy="45632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" name="아래쪽 화살표 33">
            <a:extLst>
              <a:ext uri="{FF2B5EF4-FFF2-40B4-BE49-F238E27FC236}">
                <a16:creationId xmlns:a16="http://schemas.microsoft.com/office/drawing/2014/main" id="{01BCD0EB-DDA1-92DB-7D4A-ECB05D4A7CE7}"/>
              </a:ext>
            </a:extLst>
          </p:cNvPr>
          <p:cNvSpPr/>
          <p:nvPr/>
        </p:nvSpPr>
        <p:spPr>
          <a:xfrm>
            <a:off x="8223161" y="10960484"/>
            <a:ext cx="833736" cy="352523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22" name="아래쪽 화살표 33">
            <a:extLst>
              <a:ext uri="{FF2B5EF4-FFF2-40B4-BE49-F238E27FC236}">
                <a16:creationId xmlns:a16="http://schemas.microsoft.com/office/drawing/2014/main" id="{9C76A02F-2AB5-1420-87E1-96871A746EA2}"/>
              </a:ext>
            </a:extLst>
          </p:cNvPr>
          <p:cNvSpPr/>
          <p:nvPr/>
        </p:nvSpPr>
        <p:spPr>
          <a:xfrm>
            <a:off x="8396863" y="12962799"/>
            <a:ext cx="769840" cy="51981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27" name="아래쪽 화살표 33">
            <a:extLst>
              <a:ext uri="{FF2B5EF4-FFF2-40B4-BE49-F238E27FC236}">
                <a16:creationId xmlns:a16="http://schemas.microsoft.com/office/drawing/2014/main" id="{D3025214-8704-9420-F0FF-49AA8E275B24}"/>
              </a:ext>
            </a:extLst>
          </p:cNvPr>
          <p:cNvSpPr/>
          <p:nvPr/>
        </p:nvSpPr>
        <p:spPr>
          <a:xfrm>
            <a:off x="13824675" y="12962799"/>
            <a:ext cx="769840" cy="51981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42" name="아래쪽 화살표 33">
            <a:extLst>
              <a:ext uri="{FF2B5EF4-FFF2-40B4-BE49-F238E27FC236}">
                <a16:creationId xmlns:a16="http://schemas.microsoft.com/office/drawing/2014/main" id="{39854BB5-2B69-5C8B-2F7D-F169EEB66ECE}"/>
              </a:ext>
            </a:extLst>
          </p:cNvPr>
          <p:cNvSpPr/>
          <p:nvPr/>
        </p:nvSpPr>
        <p:spPr>
          <a:xfrm>
            <a:off x="2969051" y="12962799"/>
            <a:ext cx="769840" cy="51981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724205-8D8F-2530-A557-67A5C4CD634C}"/>
              </a:ext>
            </a:extLst>
          </p:cNvPr>
          <p:cNvSpPr/>
          <p:nvPr/>
        </p:nvSpPr>
        <p:spPr>
          <a:xfrm>
            <a:off x="951554" y="1710664"/>
            <a:ext cx="3674684" cy="3465085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</a:rPr>
              <a:t>Register File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FCED83-4E32-5BB2-111E-FD182BC08E2B}"/>
              </a:ext>
            </a:extLst>
          </p:cNvPr>
          <p:cNvSpPr/>
          <p:nvPr/>
        </p:nvSpPr>
        <p:spPr>
          <a:xfrm>
            <a:off x="18090116" y="9169503"/>
            <a:ext cx="2993230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077E5C-0F9D-4E90-0D79-AA713074EB42}"/>
              </a:ext>
            </a:extLst>
          </p:cNvPr>
          <p:cNvSpPr/>
          <p:nvPr/>
        </p:nvSpPr>
        <p:spPr>
          <a:xfrm rot="5400000">
            <a:off x="16907619" y="5170773"/>
            <a:ext cx="8167242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아래쪽 화살표 88">
            <a:extLst>
              <a:ext uri="{FF2B5EF4-FFF2-40B4-BE49-F238E27FC236}">
                <a16:creationId xmlns:a16="http://schemas.microsoft.com/office/drawing/2014/main" id="{37BA5FB7-FFB6-D1E0-0C26-CEBCB8EC17C0}"/>
              </a:ext>
            </a:extLst>
          </p:cNvPr>
          <p:cNvSpPr/>
          <p:nvPr/>
        </p:nvSpPr>
        <p:spPr>
          <a:xfrm>
            <a:off x="1836600" y="1183997"/>
            <a:ext cx="375107" cy="955135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50" name="아래쪽 화살표 29">
            <a:extLst>
              <a:ext uri="{FF2B5EF4-FFF2-40B4-BE49-F238E27FC236}">
                <a16:creationId xmlns:a16="http://schemas.microsoft.com/office/drawing/2014/main" id="{17F49240-3AF8-5EF7-EB48-99593260EBBE}"/>
              </a:ext>
            </a:extLst>
          </p:cNvPr>
          <p:cNvSpPr/>
          <p:nvPr/>
        </p:nvSpPr>
        <p:spPr>
          <a:xfrm rot="5400000">
            <a:off x="5849347" y="2661435"/>
            <a:ext cx="375107" cy="3529781"/>
          </a:xfrm>
          <a:prstGeom prst="downArrow">
            <a:avLst>
              <a:gd name="adj1" fmla="val 37304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33BF8C63-B83E-AA5E-9949-B1B3DB81B4D6}"/>
              </a:ext>
            </a:extLst>
          </p:cNvPr>
          <p:cNvGraphicFramePr>
            <a:graphicFrameLocks noGrp="1"/>
          </p:cNvGraphicFramePr>
          <p:nvPr/>
        </p:nvGraphicFramePr>
        <p:xfrm>
          <a:off x="1495165" y="2156168"/>
          <a:ext cx="2776845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376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52999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973058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  <a:gridCol w="647412">
                  <a:extLst>
                    <a:ext uri="{9D8B030D-6E8A-4147-A177-3AD203B41FA5}">
                      <a16:colId xmlns:a16="http://schemas.microsoft.com/office/drawing/2014/main" val="185633791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Logical Reg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Physical Reg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76FA0924-C25F-C95A-BA5E-D69B29B46D71}"/>
              </a:ext>
            </a:extLst>
          </p:cNvPr>
          <p:cNvSpPr/>
          <p:nvPr/>
        </p:nvSpPr>
        <p:spPr>
          <a:xfrm>
            <a:off x="3710142" y="2197341"/>
            <a:ext cx="481752" cy="231083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FB0FEB88-404B-2F85-6819-7F11C3A66F52}"/>
              </a:ext>
            </a:extLst>
          </p:cNvPr>
          <p:cNvCxnSpPr>
            <a:cxnSpLocks/>
          </p:cNvCxnSpPr>
          <p:nvPr/>
        </p:nvCxnSpPr>
        <p:spPr>
          <a:xfrm>
            <a:off x="9165247" y="8628826"/>
            <a:ext cx="536587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9AA9E3EE-E117-CF80-DCB5-2002377F88A4}"/>
              </a:ext>
            </a:extLst>
          </p:cNvPr>
          <p:cNvSpPr/>
          <p:nvPr/>
        </p:nvSpPr>
        <p:spPr>
          <a:xfrm>
            <a:off x="1561193" y="2197946"/>
            <a:ext cx="778858" cy="22412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EA380D1A-F736-B228-8CB8-B9F5C444F49E}"/>
              </a:ext>
            </a:extLst>
          </p:cNvPr>
          <p:cNvCxnSpPr>
            <a:cxnSpLocks/>
          </p:cNvCxnSpPr>
          <p:nvPr/>
        </p:nvCxnSpPr>
        <p:spPr>
          <a:xfrm>
            <a:off x="2331796" y="2422167"/>
            <a:ext cx="1367178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C6B76025-B952-CD21-08EC-42AC215D1C0C}"/>
              </a:ext>
            </a:extLst>
          </p:cNvPr>
          <p:cNvGraphicFramePr>
            <a:graphicFrameLocks noGrp="1"/>
          </p:cNvGraphicFramePr>
          <p:nvPr/>
        </p:nvGraphicFramePr>
        <p:xfrm>
          <a:off x="1495165" y="4270068"/>
          <a:ext cx="2776845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376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52999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973058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  <a:gridCol w="647412">
                  <a:extLst>
                    <a:ext uri="{9D8B030D-6E8A-4147-A177-3AD203B41FA5}">
                      <a16:colId xmlns:a16="http://schemas.microsoft.com/office/drawing/2014/main" val="185633791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Logical Reg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Physical Reg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B01464A0-8192-CB74-A8AE-72523C1F418D}"/>
              </a:ext>
            </a:extLst>
          </p:cNvPr>
          <p:cNvGraphicFramePr>
            <a:graphicFrameLocks noGrp="1"/>
          </p:cNvGraphicFramePr>
          <p:nvPr/>
        </p:nvGraphicFramePr>
        <p:xfrm>
          <a:off x="1495165" y="3075345"/>
          <a:ext cx="2776845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376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52999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973058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  <a:gridCol w="647412">
                  <a:extLst>
                    <a:ext uri="{9D8B030D-6E8A-4147-A177-3AD203B41FA5}">
                      <a16:colId xmlns:a16="http://schemas.microsoft.com/office/drawing/2014/main" val="185633791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Logical Reg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Physical Reg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sp>
        <p:nvSpPr>
          <p:cNvPr id="106" name="U자형 화살표 37">
            <a:extLst>
              <a:ext uri="{FF2B5EF4-FFF2-40B4-BE49-F238E27FC236}">
                <a16:creationId xmlns:a16="http://schemas.microsoft.com/office/drawing/2014/main" id="{FA24E235-456B-7EFE-7102-888AB62857B1}"/>
              </a:ext>
            </a:extLst>
          </p:cNvPr>
          <p:cNvSpPr/>
          <p:nvPr/>
        </p:nvSpPr>
        <p:spPr>
          <a:xfrm rot="13876952">
            <a:off x="1052657" y="2243929"/>
            <a:ext cx="711183" cy="622157"/>
          </a:xfrm>
          <a:prstGeom prst="utur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107" name="U자형 화살표 37">
            <a:extLst>
              <a:ext uri="{FF2B5EF4-FFF2-40B4-BE49-F238E27FC236}">
                <a16:creationId xmlns:a16="http://schemas.microsoft.com/office/drawing/2014/main" id="{D09D6AB3-3A9A-91DE-CA36-6DF2CC1B7F1A}"/>
              </a:ext>
            </a:extLst>
          </p:cNvPr>
          <p:cNvSpPr/>
          <p:nvPr/>
        </p:nvSpPr>
        <p:spPr>
          <a:xfrm rot="13876952">
            <a:off x="1052657" y="3168654"/>
            <a:ext cx="711183" cy="622157"/>
          </a:xfrm>
          <a:prstGeom prst="utur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108" name="U자형 화살표 37">
            <a:extLst>
              <a:ext uri="{FF2B5EF4-FFF2-40B4-BE49-F238E27FC236}">
                <a16:creationId xmlns:a16="http://schemas.microsoft.com/office/drawing/2014/main" id="{4E730064-4B93-C28D-EADC-E2F94F0895FF}"/>
              </a:ext>
            </a:extLst>
          </p:cNvPr>
          <p:cNvSpPr/>
          <p:nvPr/>
        </p:nvSpPr>
        <p:spPr>
          <a:xfrm rot="13876952">
            <a:off x="1052657" y="4357386"/>
            <a:ext cx="711183" cy="622157"/>
          </a:xfrm>
          <a:prstGeom prst="utur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110" name="아래쪽 화살표 29">
            <a:extLst>
              <a:ext uri="{FF2B5EF4-FFF2-40B4-BE49-F238E27FC236}">
                <a16:creationId xmlns:a16="http://schemas.microsoft.com/office/drawing/2014/main" id="{9A871733-4771-C834-4585-7C8A20250922}"/>
              </a:ext>
            </a:extLst>
          </p:cNvPr>
          <p:cNvSpPr/>
          <p:nvPr/>
        </p:nvSpPr>
        <p:spPr>
          <a:xfrm>
            <a:off x="1959833" y="2790372"/>
            <a:ext cx="128639" cy="269835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01B33DF-C1C1-FD7F-6E48-86971C5627F8}"/>
              </a:ext>
            </a:extLst>
          </p:cNvPr>
          <p:cNvSpPr/>
          <p:nvPr/>
        </p:nvSpPr>
        <p:spPr>
          <a:xfrm rot="5400000">
            <a:off x="3894180" y="3425008"/>
            <a:ext cx="126504" cy="71074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아래쪽 화살표 29">
            <a:extLst>
              <a:ext uri="{FF2B5EF4-FFF2-40B4-BE49-F238E27FC236}">
                <a16:creationId xmlns:a16="http://schemas.microsoft.com/office/drawing/2014/main" id="{A44BE8EF-5D73-E69B-0B34-99A9FBE9879D}"/>
              </a:ext>
            </a:extLst>
          </p:cNvPr>
          <p:cNvSpPr/>
          <p:nvPr/>
        </p:nvSpPr>
        <p:spPr>
          <a:xfrm>
            <a:off x="9926918" y="3487882"/>
            <a:ext cx="128639" cy="187984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117C836-291C-4AE5-1A64-022BF587C6A7}"/>
              </a:ext>
            </a:extLst>
          </p:cNvPr>
          <p:cNvGraphicFramePr>
            <a:graphicFrameLocks noGrp="1"/>
          </p:cNvGraphicFramePr>
          <p:nvPr/>
        </p:nvGraphicFramePr>
        <p:xfrm>
          <a:off x="6528946" y="392681"/>
          <a:ext cx="4054410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09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7800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624190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  <a:gridCol w="408041">
                  <a:extLst>
                    <a:ext uri="{9D8B030D-6E8A-4147-A177-3AD203B41FA5}">
                      <a16:colId xmlns:a16="http://schemas.microsoft.com/office/drawing/2014/main" val="1856337919"/>
                    </a:ext>
                  </a:extLst>
                </a:gridCol>
                <a:gridCol w="408041">
                  <a:extLst>
                    <a:ext uri="{9D8B030D-6E8A-4147-A177-3AD203B41FA5}">
                      <a16:colId xmlns:a16="http://schemas.microsoft.com/office/drawing/2014/main" val="3991809807"/>
                    </a:ext>
                  </a:extLst>
                </a:gridCol>
                <a:gridCol w="624190">
                  <a:extLst>
                    <a:ext uri="{9D8B030D-6E8A-4147-A177-3AD203B41FA5}">
                      <a16:colId xmlns:a16="http://schemas.microsoft.com/office/drawing/2014/main" val="510450466"/>
                    </a:ext>
                  </a:extLst>
                </a:gridCol>
                <a:gridCol w="352480">
                  <a:extLst>
                    <a:ext uri="{9D8B030D-6E8A-4147-A177-3AD203B41FA5}">
                      <a16:colId xmlns:a16="http://schemas.microsoft.com/office/drawing/2014/main" val="550937721"/>
                    </a:ext>
                  </a:extLst>
                </a:gridCol>
                <a:gridCol w="698159">
                  <a:extLst>
                    <a:ext uri="{9D8B030D-6E8A-4147-A177-3AD203B41FA5}">
                      <a16:colId xmlns:a16="http://schemas.microsoft.com/office/drawing/2014/main" val="2090015188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funct7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rs2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rs1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funct3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</a:rPr>
                        <a:t>rd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opcode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sp>
        <p:nvSpPr>
          <p:cNvPr id="120" name="U자형 화살표 39">
            <a:extLst>
              <a:ext uri="{FF2B5EF4-FFF2-40B4-BE49-F238E27FC236}">
                <a16:creationId xmlns:a16="http://schemas.microsoft.com/office/drawing/2014/main" id="{C513857B-BA37-2579-0CA2-F68261CB8225}"/>
              </a:ext>
            </a:extLst>
          </p:cNvPr>
          <p:cNvSpPr/>
          <p:nvPr/>
        </p:nvSpPr>
        <p:spPr>
          <a:xfrm rot="7723048" flipH="1">
            <a:off x="17564170" y="8464463"/>
            <a:ext cx="711183" cy="622157"/>
          </a:xfrm>
          <a:prstGeom prst="utur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04541FB1-C3E6-056E-FC6E-39B7D7470DAE}"/>
              </a:ext>
            </a:extLst>
          </p:cNvPr>
          <p:cNvSpPr/>
          <p:nvPr/>
        </p:nvSpPr>
        <p:spPr>
          <a:xfrm>
            <a:off x="22388187" y="1045029"/>
            <a:ext cx="5015498" cy="3408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867" b="1" dirty="0">
                <a:solidFill>
                  <a:schemeClr val="accent1"/>
                </a:solidFill>
              </a:rPr>
              <a:t>Flow Control Logic</a:t>
            </a:r>
            <a:endParaRPr lang="ko-KR" altLang="en-US" sz="1867" b="1" dirty="0">
              <a:solidFill>
                <a:schemeClr val="accent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13E1CC9-1602-FFC6-0965-718FF75A7702}"/>
              </a:ext>
            </a:extLst>
          </p:cNvPr>
          <p:cNvSpPr/>
          <p:nvPr/>
        </p:nvSpPr>
        <p:spPr>
          <a:xfrm rot="5400000">
            <a:off x="25387456" y="1700592"/>
            <a:ext cx="2666583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7B31DFF-6F5A-A698-2A71-7695C9E7B0E0}"/>
              </a:ext>
            </a:extLst>
          </p:cNvPr>
          <p:cNvSpPr/>
          <p:nvPr/>
        </p:nvSpPr>
        <p:spPr>
          <a:xfrm rot="5400000">
            <a:off x="1502074" y="15417811"/>
            <a:ext cx="1064164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14D558B8-8597-BF65-A404-D1E3D33BD319}"/>
              </a:ext>
            </a:extLst>
          </p:cNvPr>
          <p:cNvSpPr/>
          <p:nvPr/>
        </p:nvSpPr>
        <p:spPr>
          <a:xfrm>
            <a:off x="1944584" y="15855427"/>
            <a:ext cx="24863529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아래쪽 화살표 88">
            <a:extLst>
              <a:ext uri="{FF2B5EF4-FFF2-40B4-BE49-F238E27FC236}">
                <a16:creationId xmlns:a16="http://schemas.microsoft.com/office/drawing/2014/main" id="{39CD0D03-001E-ECD5-14BA-91E1BC0B3F7F}"/>
              </a:ext>
            </a:extLst>
          </p:cNvPr>
          <p:cNvSpPr/>
          <p:nvPr/>
        </p:nvSpPr>
        <p:spPr>
          <a:xfrm rot="10800000">
            <a:off x="26528749" y="3441700"/>
            <a:ext cx="375107" cy="1258978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F49981D-E0CD-9C38-1C74-379CCA3EB74D}"/>
              </a:ext>
            </a:extLst>
          </p:cNvPr>
          <p:cNvSpPr/>
          <p:nvPr/>
        </p:nvSpPr>
        <p:spPr>
          <a:xfrm rot="5400000">
            <a:off x="7482394" y="4039145"/>
            <a:ext cx="126504" cy="71074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7406A81-F6FB-5E58-C082-918F03FBF649}"/>
              </a:ext>
            </a:extLst>
          </p:cNvPr>
          <p:cNvSpPr/>
          <p:nvPr/>
        </p:nvSpPr>
        <p:spPr>
          <a:xfrm>
            <a:off x="1995487" y="4064670"/>
            <a:ext cx="5584031" cy="75703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아래쪽 화살표 29">
            <a:extLst>
              <a:ext uri="{FF2B5EF4-FFF2-40B4-BE49-F238E27FC236}">
                <a16:creationId xmlns:a16="http://schemas.microsoft.com/office/drawing/2014/main" id="{211C7A83-368A-3932-BB7E-CCAB680E3738}"/>
              </a:ext>
            </a:extLst>
          </p:cNvPr>
          <p:cNvSpPr/>
          <p:nvPr/>
        </p:nvSpPr>
        <p:spPr>
          <a:xfrm>
            <a:off x="1959833" y="4070632"/>
            <a:ext cx="128639" cy="19706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66490DFE-DB2F-C9E0-DEE6-27E58474B40E}"/>
              </a:ext>
            </a:extLst>
          </p:cNvPr>
          <p:cNvGraphicFramePr>
            <a:graphicFrameLocks noGrp="1"/>
          </p:cNvGraphicFramePr>
          <p:nvPr/>
        </p:nvGraphicFramePr>
        <p:xfrm>
          <a:off x="6071247" y="3692954"/>
          <a:ext cx="4969815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04">
                  <a:extLst>
                    <a:ext uri="{9D8B030D-6E8A-4147-A177-3AD203B41FA5}">
                      <a16:colId xmlns:a16="http://schemas.microsoft.com/office/drawing/2014/main" val="1700589606"/>
                    </a:ext>
                  </a:extLst>
                </a:gridCol>
                <a:gridCol w="773411">
                  <a:extLst>
                    <a:ext uri="{9D8B030D-6E8A-4147-A177-3AD203B41FA5}">
                      <a16:colId xmlns:a16="http://schemas.microsoft.com/office/drawing/2014/main" val="827110009"/>
                    </a:ext>
                  </a:extLst>
                </a:gridCol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056047610"/>
                    </a:ext>
                  </a:extLst>
                </a:gridCol>
                <a:gridCol w="629481">
                  <a:extLst>
                    <a:ext uri="{9D8B030D-6E8A-4147-A177-3AD203B41FA5}">
                      <a16:colId xmlns:a16="http://schemas.microsoft.com/office/drawing/2014/main" val="3596490459"/>
                    </a:ext>
                  </a:extLst>
                </a:gridCol>
                <a:gridCol w="523652">
                  <a:extLst>
                    <a:ext uri="{9D8B030D-6E8A-4147-A177-3AD203B41FA5}">
                      <a16:colId xmlns:a16="http://schemas.microsoft.com/office/drawing/2014/main" val="836127253"/>
                    </a:ext>
                  </a:extLst>
                </a:gridCol>
                <a:gridCol w="686630">
                  <a:extLst>
                    <a:ext uri="{9D8B030D-6E8A-4147-A177-3AD203B41FA5}">
                      <a16:colId xmlns:a16="http://schemas.microsoft.com/office/drawing/2014/main" val="759475826"/>
                    </a:ext>
                  </a:extLst>
                </a:gridCol>
                <a:gridCol w="703142">
                  <a:extLst>
                    <a:ext uri="{9D8B030D-6E8A-4147-A177-3AD203B41FA5}">
                      <a16:colId xmlns:a16="http://schemas.microsoft.com/office/drawing/2014/main" val="3022626769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MicroOP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</a:rPr>
                        <a:t>rd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P_src2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IMM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Ready1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Ready2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29DBDD7-E799-C7E8-425B-312C24CC2814}"/>
              </a:ext>
            </a:extLst>
          </p:cNvPr>
          <p:cNvSpPr/>
          <p:nvPr/>
        </p:nvSpPr>
        <p:spPr>
          <a:xfrm>
            <a:off x="19291300" y="9546529"/>
            <a:ext cx="5397500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아래쪽 화살표 88">
            <a:extLst>
              <a:ext uri="{FF2B5EF4-FFF2-40B4-BE49-F238E27FC236}">
                <a16:creationId xmlns:a16="http://schemas.microsoft.com/office/drawing/2014/main" id="{BC32BD52-D59C-F4B4-BB79-0DAA27BBBCE6}"/>
              </a:ext>
            </a:extLst>
          </p:cNvPr>
          <p:cNvSpPr/>
          <p:nvPr/>
        </p:nvSpPr>
        <p:spPr>
          <a:xfrm rot="10800000">
            <a:off x="19191919" y="8878752"/>
            <a:ext cx="375107" cy="84841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DC3091-84E1-2DED-0ABA-3E00D3C2B117}"/>
              </a:ext>
            </a:extLst>
          </p:cNvPr>
          <p:cNvSpPr/>
          <p:nvPr/>
        </p:nvSpPr>
        <p:spPr>
          <a:xfrm>
            <a:off x="1928571" y="1023110"/>
            <a:ext cx="19152989" cy="18064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아래쪽 화살표 33">
            <a:extLst>
              <a:ext uri="{FF2B5EF4-FFF2-40B4-BE49-F238E27FC236}">
                <a16:creationId xmlns:a16="http://schemas.microsoft.com/office/drawing/2014/main" id="{6F998675-373B-0425-2731-7905549517EB}"/>
              </a:ext>
            </a:extLst>
          </p:cNvPr>
          <p:cNvSpPr/>
          <p:nvPr/>
        </p:nvSpPr>
        <p:spPr>
          <a:xfrm>
            <a:off x="8095790" y="775362"/>
            <a:ext cx="809758" cy="1389739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304FD925-FFFD-5DB6-F444-8ADD1B005061}"/>
              </a:ext>
            </a:extLst>
          </p:cNvPr>
          <p:cNvCxnSpPr>
            <a:cxnSpLocks/>
            <a:stCxn id="121" idx="0"/>
          </p:cNvCxnSpPr>
          <p:nvPr/>
        </p:nvCxnSpPr>
        <p:spPr>
          <a:xfrm rot="16200000" flipH="1" flipV="1">
            <a:off x="16787168" y="-6564125"/>
            <a:ext cx="499614" cy="15717922"/>
          </a:xfrm>
          <a:prstGeom prst="bentConnector4">
            <a:avLst>
              <a:gd name="adj1" fmla="val -36899"/>
              <a:gd name="adj2" fmla="val 100014"/>
            </a:avLst>
          </a:prstGeom>
          <a:ln w="38100">
            <a:solidFill>
              <a:srgbClr val="8FAAD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A69C6-36B2-0585-1506-7AEC09D32D1D}"/>
              </a:ext>
            </a:extLst>
          </p:cNvPr>
          <p:cNvSpPr txBox="1"/>
          <p:nvPr/>
        </p:nvSpPr>
        <p:spPr>
          <a:xfrm>
            <a:off x="9221557" y="1231394"/>
            <a:ext cx="726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</a:rPr>
              <a:t>Blocking</a:t>
            </a:r>
            <a:endParaRPr lang="ko-KR" altLang="en-US" sz="1200" b="1" dirty="0">
              <a:solidFill>
                <a:schemeClr val="accent1"/>
              </a:solidFill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E6405E0F-2E72-798C-83B0-795890E58E61}"/>
              </a:ext>
            </a:extLst>
          </p:cNvPr>
          <p:cNvSpPr/>
          <p:nvPr/>
        </p:nvSpPr>
        <p:spPr>
          <a:xfrm>
            <a:off x="4257262" y="197503"/>
            <a:ext cx="6441120" cy="568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>
                <a:solidFill>
                  <a:schemeClr val="tx1"/>
                </a:solidFill>
              </a:rPr>
              <a:t>Instruction Memory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2CA37EA-B545-4A8A-BE1C-1645B66704E6}"/>
              </a:ext>
            </a:extLst>
          </p:cNvPr>
          <p:cNvSpPr/>
          <p:nvPr/>
        </p:nvSpPr>
        <p:spPr>
          <a:xfrm>
            <a:off x="3924661" y="3475016"/>
            <a:ext cx="6104924" cy="75703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아래쪽 화살표 33">
            <a:extLst>
              <a:ext uri="{FF2B5EF4-FFF2-40B4-BE49-F238E27FC236}">
                <a16:creationId xmlns:a16="http://schemas.microsoft.com/office/drawing/2014/main" id="{12145A6B-EE25-8D33-5180-A07ABB5588FA}"/>
              </a:ext>
            </a:extLst>
          </p:cNvPr>
          <p:cNvSpPr/>
          <p:nvPr/>
        </p:nvSpPr>
        <p:spPr>
          <a:xfrm>
            <a:off x="8094974" y="2646049"/>
            <a:ext cx="792461" cy="98412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80AAC352-8EB8-0BC8-76A8-520F8B4D0CED}"/>
              </a:ext>
            </a:extLst>
          </p:cNvPr>
          <p:cNvSpPr/>
          <p:nvPr/>
        </p:nvSpPr>
        <p:spPr>
          <a:xfrm>
            <a:off x="1990484" y="2784460"/>
            <a:ext cx="6750844" cy="75703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A1A301DC-9C2F-607B-EC40-3E425B4AD9C3}"/>
              </a:ext>
            </a:extLst>
          </p:cNvPr>
          <p:cNvSpPr/>
          <p:nvPr/>
        </p:nvSpPr>
        <p:spPr>
          <a:xfrm rot="5400000">
            <a:off x="8593321" y="2636771"/>
            <a:ext cx="240096" cy="71074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018D129E-5F3B-F573-4E49-E6505566D254}"/>
              </a:ext>
            </a:extLst>
          </p:cNvPr>
          <p:cNvGraphicFramePr>
            <a:graphicFrameLocks noGrp="1"/>
          </p:cNvGraphicFramePr>
          <p:nvPr/>
        </p:nvGraphicFramePr>
        <p:xfrm>
          <a:off x="8458577" y="14662157"/>
          <a:ext cx="646414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3A485B5E-304F-0184-7119-57A413483F0F}"/>
              </a:ext>
            </a:extLst>
          </p:cNvPr>
          <p:cNvGraphicFramePr>
            <a:graphicFrameLocks noGrp="1"/>
          </p:cNvGraphicFramePr>
          <p:nvPr/>
        </p:nvGraphicFramePr>
        <p:xfrm>
          <a:off x="13894371" y="14662157"/>
          <a:ext cx="646414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F3F2B7F-39E6-230D-E1C4-48CD3823FFAD}"/>
              </a:ext>
            </a:extLst>
          </p:cNvPr>
          <p:cNvGraphicFramePr>
            <a:graphicFrameLocks noGrp="1"/>
          </p:cNvGraphicFramePr>
          <p:nvPr/>
        </p:nvGraphicFramePr>
        <p:xfrm>
          <a:off x="3021383" y="14662157"/>
          <a:ext cx="646414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414">
                  <a:extLst>
                    <a:ext uri="{9D8B030D-6E8A-4147-A177-3AD203B41FA5}">
                      <a16:colId xmlns:a16="http://schemas.microsoft.com/office/drawing/2014/main" val="3245210431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04161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13571E57-6A7E-BD03-02B8-6DB1AC8A4F2B}"/>
              </a:ext>
            </a:extLst>
          </p:cNvPr>
          <p:cNvGraphicFramePr>
            <a:graphicFrameLocks noGrp="1"/>
          </p:cNvGraphicFramePr>
          <p:nvPr/>
        </p:nvGraphicFramePr>
        <p:xfrm>
          <a:off x="1603376" y="14662034"/>
          <a:ext cx="890256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256">
                  <a:extLst>
                    <a:ext uri="{9D8B030D-6E8A-4147-A177-3AD203B41FA5}">
                      <a16:colId xmlns:a16="http://schemas.microsoft.com/office/drawing/2014/main" val="3952378705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</a:rPr>
                        <a:t>new_PC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047444"/>
                  </a:ext>
                </a:extLst>
              </a:tr>
            </a:tbl>
          </a:graphicData>
        </a:graphic>
      </p:graphicFrame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9C76DE7-F309-199E-B69D-F24629517E49}"/>
              </a:ext>
            </a:extLst>
          </p:cNvPr>
          <p:cNvSpPr/>
          <p:nvPr/>
        </p:nvSpPr>
        <p:spPr>
          <a:xfrm>
            <a:off x="2708118" y="4313471"/>
            <a:ext cx="835182" cy="231083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AB791717-A775-47AE-E46A-DB57C73D010D}"/>
              </a:ext>
            </a:extLst>
          </p:cNvPr>
          <p:cNvSpPr/>
          <p:nvPr/>
        </p:nvSpPr>
        <p:spPr>
          <a:xfrm>
            <a:off x="1561193" y="4314076"/>
            <a:ext cx="778858" cy="22412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F50C1A9C-E115-349C-0E7E-D18D43B95A89}"/>
              </a:ext>
            </a:extLst>
          </p:cNvPr>
          <p:cNvCxnSpPr>
            <a:cxnSpLocks/>
          </p:cNvCxnSpPr>
          <p:nvPr/>
        </p:nvCxnSpPr>
        <p:spPr>
          <a:xfrm>
            <a:off x="2331796" y="4538297"/>
            <a:ext cx="354254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9983EE-46A9-6513-0251-3684DE61C702}"/>
              </a:ext>
            </a:extLst>
          </p:cNvPr>
          <p:cNvSpPr/>
          <p:nvPr/>
        </p:nvSpPr>
        <p:spPr>
          <a:xfrm>
            <a:off x="22961223" y="1492250"/>
            <a:ext cx="2467806" cy="2578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>
                <a:solidFill>
                  <a:schemeClr val="tx1"/>
                </a:solidFill>
              </a:rPr>
              <a:t>4-Way</a:t>
            </a:r>
          </a:p>
          <a:p>
            <a:r>
              <a:rPr lang="en-US" altLang="ko-KR" sz="1600" b="1" dirty="0">
                <a:solidFill>
                  <a:schemeClr val="tx1"/>
                </a:solidFill>
              </a:rPr>
              <a:t>Register File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EFAFED75-2D64-BA63-54C2-0811610F9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70853"/>
              </p:ext>
            </p:extLst>
          </p:nvPr>
        </p:nvGraphicFramePr>
        <p:xfrm>
          <a:off x="23419475" y="2231623"/>
          <a:ext cx="1563499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09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7800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624190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16740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2EEF56-65D5-71FD-6AF6-26724400A0A9}"/>
              </a:ext>
            </a:extLst>
          </p:cNvPr>
          <p:cNvSpPr/>
          <p:nvPr/>
        </p:nvSpPr>
        <p:spPr>
          <a:xfrm rot="5400000">
            <a:off x="17758851" y="3862900"/>
            <a:ext cx="3233737" cy="146617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아래쪽 화살표 88">
            <a:extLst>
              <a:ext uri="{FF2B5EF4-FFF2-40B4-BE49-F238E27FC236}">
                <a16:creationId xmlns:a16="http://schemas.microsoft.com/office/drawing/2014/main" id="{8051DE06-8338-6F64-EFB4-E16833113760}"/>
              </a:ext>
            </a:extLst>
          </p:cNvPr>
          <p:cNvSpPr/>
          <p:nvPr/>
        </p:nvSpPr>
        <p:spPr>
          <a:xfrm rot="16200000" flipH="1">
            <a:off x="21168293" y="357212"/>
            <a:ext cx="375107" cy="410844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D9181FB-5EC0-0B11-9FF5-57E8D0AE7862}"/>
              </a:ext>
            </a:extLst>
          </p:cNvPr>
          <p:cNvSpPr/>
          <p:nvPr/>
        </p:nvSpPr>
        <p:spPr>
          <a:xfrm rot="5400000">
            <a:off x="5992837" y="4845133"/>
            <a:ext cx="523698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FD19607-788A-37A3-A132-D1FCEF69B353}"/>
              </a:ext>
            </a:extLst>
          </p:cNvPr>
          <p:cNvSpPr/>
          <p:nvPr/>
        </p:nvSpPr>
        <p:spPr>
          <a:xfrm>
            <a:off x="6164077" y="4609598"/>
            <a:ext cx="11926039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U자형 화살표 84">
            <a:extLst>
              <a:ext uri="{FF2B5EF4-FFF2-40B4-BE49-F238E27FC236}">
                <a16:creationId xmlns:a16="http://schemas.microsoft.com/office/drawing/2014/main" id="{D422A2D1-3BDE-80CF-4C3C-5E8B76597E19}"/>
              </a:ext>
            </a:extLst>
          </p:cNvPr>
          <p:cNvSpPr/>
          <p:nvPr/>
        </p:nvSpPr>
        <p:spPr>
          <a:xfrm flipH="1">
            <a:off x="7272270" y="4352905"/>
            <a:ext cx="12176760" cy="2747781"/>
          </a:xfrm>
          <a:prstGeom prst="uturnArrow">
            <a:avLst>
              <a:gd name="adj1" fmla="val 5545"/>
              <a:gd name="adj2" fmla="val 10532"/>
              <a:gd name="adj3" fmla="val 11255"/>
              <a:gd name="adj4" fmla="val 10702"/>
              <a:gd name="adj5" fmla="val 29745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34" name="아래쪽 화살표 33">
            <a:extLst>
              <a:ext uri="{FF2B5EF4-FFF2-40B4-BE49-F238E27FC236}">
                <a16:creationId xmlns:a16="http://schemas.microsoft.com/office/drawing/2014/main" id="{3F286A76-9F73-20E7-D7BD-ED6A36748A99}"/>
              </a:ext>
            </a:extLst>
          </p:cNvPr>
          <p:cNvSpPr/>
          <p:nvPr/>
        </p:nvSpPr>
        <p:spPr>
          <a:xfrm>
            <a:off x="8094974" y="4134846"/>
            <a:ext cx="792461" cy="939012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F019414-2C70-0E7D-1177-2616A0B91326}"/>
              </a:ext>
            </a:extLst>
          </p:cNvPr>
          <p:cNvSpPr/>
          <p:nvPr/>
        </p:nvSpPr>
        <p:spPr>
          <a:xfrm rot="5400000">
            <a:off x="16487875" y="3160553"/>
            <a:ext cx="3080411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323C42B-7C11-9A7D-CF13-AC588D2A505D}"/>
              </a:ext>
            </a:extLst>
          </p:cNvPr>
          <p:cNvSpPr/>
          <p:nvPr/>
        </p:nvSpPr>
        <p:spPr>
          <a:xfrm>
            <a:off x="17960073" y="1710664"/>
            <a:ext cx="6798577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아래쪽 화살표 88">
            <a:extLst>
              <a:ext uri="{FF2B5EF4-FFF2-40B4-BE49-F238E27FC236}">
                <a16:creationId xmlns:a16="http://schemas.microsoft.com/office/drawing/2014/main" id="{31FBD03C-6031-6D1E-9645-4545D371DF23}"/>
              </a:ext>
            </a:extLst>
          </p:cNvPr>
          <p:cNvSpPr/>
          <p:nvPr/>
        </p:nvSpPr>
        <p:spPr>
          <a:xfrm>
            <a:off x="24488418" y="1710665"/>
            <a:ext cx="375107" cy="52096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E2DB9F5-F7A0-A15E-9424-B787D4FE4C7B}"/>
              </a:ext>
            </a:extLst>
          </p:cNvPr>
          <p:cNvSpPr/>
          <p:nvPr/>
        </p:nvSpPr>
        <p:spPr>
          <a:xfrm>
            <a:off x="24396770" y="2279413"/>
            <a:ext cx="534918" cy="231083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F477080-DCC7-650F-391B-67C6141CAD83}"/>
              </a:ext>
            </a:extLst>
          </p:cNvPr>
          <p:cNvSpPr/>
          <p:nvPr/>
        </p:nvSpPr>
        <p:spPr>
          <a:xfrm>
            <a:off x="23555325" y="2280018"/>
            <a:ext cx="466725" cy="22412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F899241-59BE-06AE-CBDA-E2F943E2EBD4}"/>
              </a:ext>
            </a:extLst>
          </p:cNvPr>
          <p:cNvCxnSpPr>
            <a:cxnSpLocks/>
          </p:cNvCxnSpPr>
          <p:nvPr/>
        </p:nvCxnSpPr>
        <p:spPr>
          <a:xfrm>
            <a:off x="24025210" y="2504239"/>
            <a:ext cx="354254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아래쪽 화살표 88">
            <a:extLst>
              <a:ext uri="{FF2B5EF4-FFF2-40B4-BE49-F238E27FC236}">
                <a16:creationId xmlns:a16="http://schemas.microsoft.com/office/drawing/2014/main" id="{9102EEB2-30F3-E0B0-3837-2D41056F88EC}"/>
              </a:ext>
            </a:extLst>
          </p:cNvPr>
          <p:cNvSpPr/>
          <p:nvPr/>
        </p:nvSpPr>
        <p:spPr>
          <a:xfrm rot="5400000">
            <a:off x="18512944" y="-7546819"/>
            <a:ext cx="375107" cy="1619618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93C958DA-8BD4-627E-59A6-BF5CB918A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83972"/>
              </p:ext>
            </p:extLst>
          </p:nvPr>
        </p:nvGraphicFramePr>
        <p:xfrm>
          <a:off x="26357775" y="3105950"/>
          <a:ext cx="721509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09">
                  <a:extLst>
                    <a:ext uri="{9D8B030D-6E8A-4147-A177-3AD203B41FA5}">
                      <a16:colId xmlns:a16="http://schemas.microsoft.com/office/drawing/2014/main" val="3952378705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047444"/>
                  </a:ext>
                </a:extLst>
              </a:tr>
            </a:tbl>
          </a:graphicData>
        </a:graphic>
      </p:graphicFrame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1FBB69AE-D362-E1FD-8E48-03A2FC44D311}"/>
              </a:ext>
            </a:extLst>
          </p:cNvPr>
          <p:cNvSpPr/>
          <p:nvPr/>
        </p:nvSpPr>
        <p:spPr>
          <a:xfrm rot="5400000">
            <a:off x="21525246" y="6468908"/>
            <a:ext cx="6339979" cy="180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아래쪽 화살표 88">
            <a:extLst>
              <a:ext uri="{FF2B5EF4-FFF2-40B4-BE49-F238E27FC236}">
                <a16:creationId xmlns:a16="http://schemas.microsoft.com/office/drawing/2014/main" id="{828C9163-2078-AA9E-BBAE-E9BE61B0349E}"/>
              </a:ext>
            </a:extLst>
          </p:cNvPr>
          <p:cNvSpPr/>
          <p:nvPr/>
        </p:nvSpPr>
        <p:spPr>
          <a:xfrm rot="5400000">
            <a:off x="25488989" y="2589481"/>
            <a:ext cx="375107" cy="134683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F92D305B-50AC-4139-8A94-83EE55B8C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954779"/>
              </p:ext>
            </p:extLst>
          </p:nvPr>
        </p:nvGraphicFramePr>
        <p:xfrm>
          <a:off x="23427186" y="3102511"/>
          <a:ext cx="1563499" cy="313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09">
                  <a:extLst>
                    <a:ext uri="{9D8B030D-6E8A-4147-A177-3AD203B41FA5}">
                      <a16:colId xmlns:a16="http://schemas.microsoft.com/office/drawing/2014/main" val="2571693596"/>
                    </a:ext>
                  </a:extLst>
                </a:gridCol>
                <a:gridCol w="217800">
                  <a:extLst>
                    <a:ext uri="{9D8B030D-6E8A-4147-A177-3AD203B41FA5}">
                      <a16:colId xmlns:a16="http://schemas.microsoft.com/office/drawing/2014/main" val="3959985269"/>
                    </a:ext>
                  </a:extLst>
                </a:gridCol>
                <a:gridCol w="624190">
                  <a:extLst>
                    <a:ext uri="{9D8B030D-6E8A-4147-A177-3AD203B41FA5}">
                      <a16:colId xmlns:a16="http://schemas.microsoft.com/office/drawing/2014/main" val="829703328"/>
                    </a:ext>
                  </a:extLst>
                </a:gridCol>
              </a:tblGrid>
              <a:tr h="313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16740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</a:rPr>
                        <a:t>P_new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96192"/>
                  </a:ext>
                </a:extLst>
              </a:tr>
            </a:tbl>
          </a:graphicData>
        </a:graphic>
      </p:graphicFrame>
      <p:sp>
        <p:nvSpPr>
          <p:cNvPr id="142" name="U자형 화살표 39">
            <a:extLst>
              <a:ext uri="{FF2B5EF4-FFF2-40B4-BE49-F238E27FC236}">
                <a16:creationId xmlns:a16="http://schemas.microsoft.com/office/drawing/2014/main" id="{1F6748B4-2368-98F6-68EF-9B7A5BE1AB21}"/>
              </a:ext>
            </a:extLst>
          </p:cNvPr>
          <p:cNvSpPr/>
          <p:nvPr/>
        </p:nvSpPr>
        <p:spPr>
          <a:xfrm rot="7723048" flipH="1">
            <a:off x="24688870" y="2300074"/>
            <a:ext cx="711183" cy="622157"/>
          </a:xfrm>
          <a:prstGeom prst="utur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9" rIns="121917" bIns="609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936</TotalTime>
  <Words>324</Words>
  <Application>Microsoft Office PowerPoint</Application>
  <PresentationFormat>사용자 지정</PresentationFormat>
  <Paragraphs>174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신성민</cp:lastModifiedBy>
  <cp:revision>132</cp:revision>
  <dcterms:created xsi:type="dcterms:W3CDTF">2026-04-20T05:48:02Z</dcterms:created>
  <dcterms:modified xsi:type="dcterms:W3CDTF">2026-04-21T15:36:31Z</dcterms:modified>
</cp:coreProperties>
</file>